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8245" r:id="rId2"/>
  </p:sldIdLst>
  <p:sldSz cx="12192000" cy="6858000"/>
  <p:notesSz cx="6797675" cy="9926638"/>
  <p:defaultTextStyle>
    <a:lvl1pPr algn="ctr" defTabSz="412750">
      <a:defRPr sz="2500">
        <a:latin typeface="+mn-lt"/>
        <a:ea typeface="+mn-ea"/>
        <a:cs typeface="+mn-cs"/>
        <a:sym typeface="Apple SD 산돌고딕 Neo 일반체"/>
      </a:defRPr>
    </a:lvl1pPr>
    <a:lvl2pPr indent="114300" algn="ctr" defTabSz="412750">
      <a:defRPr sz="2500">
        <a:latin typeface="+mn-lt"/>
        <a:ea typeface="+mn-ea"/>
        <a:cs typeface="+mn-cs"/>
        <a:sym typeface="Apple SD 산돌고딕 Neo 일반체"/>
      </a:defRPr>
    </a:lvl2pPr>
    <a:lvl3pPr indent="228600" algn="ctr" defTabSz="412750">
      <a:defRPr sz="2500">
        <a:latin typeface="+mn-lt"/>
        <a:ea typeface="+mn-ea"/>
        <a:cs typeface="+mn-cs"/>
        <a:sym typeface="Apple SD 산돌고딕 Neo 일반체"/>
      </a:defRPr>
    </a:lvl3pPr>
    <a:lvl4pPr indent="342900" algn="ctr" defTabSz="412750">
      <a:defRPr sz="2500">
        <a:latin typeface="+mn-lt"/>
        <a:ea typeface="+mn-ea"/>
        <a:cs typeface="+mn-cs"/>
        <a:sym typeface="Apple SD 산돌고딕 Neo 일반체"/>
      </a:defRPr>
    </a:lvl4pPr>
    <a:lvl5pPr indent="457200" algn="ctr" defTabSz="412750">
      <a:defRPr sz="2500">
        <a:latin typeface="+mn-lt"/>
        <a:ea typeface="+mn-ea"/>
        <a:cs typeface="+mn-cs"/>
        <a:sym typeface="Apple SD 산돌고딕 Neo 일반체"/>
      </a:defRPr>
    </a:lvl5pPr>
    <a:lvl6pPr indent="571500" algn="ctr" defTabSz="412750">
      <a:defRPr sz="2500">
        <a:latin typeface="+mn-lt"/>
        <a:ea typeface="+mn-ea"/>
        <a:cs typeface="+mn-cs"/>
        <a:sym typeface="Apple SD 산돌고딕 Neo 일반체"/>
      </a:defRPr>
    </a:lvl6pPr>
    <a:lvl7pPr indent="685800" algn="ctr" defTabSz="412750">
      <a:defRPr sz="2500">
        <a:latin typeface="+mn-lt"/>
        <a:ea typeface="+mn-ea"/>
        <a:cs typeface="+mn-cs"/>
        <a:sym typeface="Apple SD 산돌고딕 Neo 일반체"/>
      </a:defRPr>
    </a:lvl7pPr>
    <a:lvl8pPr indent="800100" algn="ctr" defTabSz="412750">
      <a:defRPr sz="2500">
        <a:latin typeface="+mn-lt"/>
        <a:ea typeface="+mn-ea"/>
        <a:cs typeface="+mn-cs"/>
        <a:sym typeface="Apple SD 산돌고딕 Neo 일반체"/>
      </a:defRPr>
    </a:lvl8pPr>
    <a:lvl9pPr indent="914400" algn="ctr" defTabSz="412750">
      <a:defRPr sz="2500">
        <a:latin typeface="+mn-lt"/>
        <a:ea typeface="+mn-ea"/>
        <a:cs typeface="+mn-cs"/>
        <a:sym typeface="Apple SD 산돌고딕 Neo 일반체"/>
      </a:defRPr>
    </a:lvl9pPr>
  </p:defaultTextStyle>
  <p:extLst>
    <p:ext uri="{521415D9-36F7-43E2-AB2F-B90AF26B5E84}">
      <p14:sectionLst xmlns:p14="http://schemas.microsoft.com/office/powerpoint/2010/main">
        <p14:section name="11월" id="{CD2FACA5-5F6B-4FAA-95E4-520532BF78BF}">
          <p14:sldIdLst>
            <p14:sldId id="28245"/>
          </p14:sldIdLst>
        </p14:section>
      </p14:sectionLst>
    </p:ext>
    <p:ext uri="{EFAFB233-063F-42B5-8137-9DF3F51BA10A}">
      <p15:sldGuideLst xmlns:p15="http://schemas.microsoft.com/office/powerpoint/2012/main">
        <p15:guide id="2" pos="551" userDrawn="1">
          <p15:clr>
            <a:srgbClr val="A4A3A4"/>
          </p15:clr>
        </p15:guide>
        <p15:guide id="3" orient="horz" pos="414" userDrawn="1">
          <p15:clr>
            <a:srgbClr val="A4A3A4"/>
          </p15:clr>
        </p15:guide>
        <p15:guide id="4" orient="horz" pos="4178" userDrawn="1">
          <p15:clr>
            <a:srgbClr val="A4A3A4"/>
          </p15:clr>
        </p15:guide>
        <p15:guide id="6" pos="7469" userDrawn="1">
          <p15:clr>
            <a:srgbClr val="A4A3A4"/>
          </p15:clr>
        </p15:guide>
        <p15:guide id="8" orient="horz" pos="368" userDrawn="1">
          <p15:clr>
            <a:srgbClr val="A4A3A4"/>
          </p15:clr>
        </p15:guide>
        <p15:guide id="12" pos="2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C0E6B"/>
    <a:srgbClr val="000000"/>
    <a:srgbClr val="122A59"/>
    <a:srgbClr val="3B3BFF"/>
    <a:srgbClr val="2D90CD"/>
    <a:srgbClr val="3333CC"/>
    <a:srgbClr val="C82171"/>
    <a:srgbClr val="B4E2C0"/>
    <a:srgbClr val="8ED2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5" autoAdjust="0"/>
    <p:restoredTop sz="96242" autoAdjust="0"/>
  </p:normalViewPr>
  <p:slideViewPr>
    <p:cSldViewPr snapToGrid="0">
      <p:cViewPr>
        <p:scale>
          <a:sx n="120" d="100"/>
          <a:sy n="120" d="100"/>
        </p:scale>
        <p:origin x="180" y="-312"/>
      </p:cViewPr>
      <p:guideLst>
        <p:guide pos="551"/>
        <p:guide orient="horz" pos="414"/>
        <p:guide orient="horz" pos="4178"/>
        <p:guide pos="7469"/>
        <p:guide orient="horz" pos="368"/>
        <p:guide pos="21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0" name="Shape 30"/>
          <p:cNvSpPr>
            <a:spLocks noGrp="1"/>
          </p:cNvSpPr>
          <p:nvPr>
            <p:ph type="body" sz="quarter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2703896132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22860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1pPr>
    <a:lvl2pPr indent="114300" defTabSz="22860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2pPr>
    <a:lvl3pPr indent="228600" defTabSz="22860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3pPr>
    <a:lvl4pPr indent="342900" defTabSz="22860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4pPr>
    <a:lvl5pPr indent="457200" defTabSz="22860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5pPr>
    <a:lvl6pPr indent="571500" defTabSz="22860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6pPr>
    <a:lvl7pPr indent="685800" defTabSz="22860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7pPr>
    <a:lvl8pPr indent="800100" defTabSz="22860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8pPr>
    <a:lvl9pPr indent="914400" defTabSz="22860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sz="1000" baseline="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2627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작성용 (본 양식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694160" y="6492875"/>
            <a:ext cx="497840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38D95E47-3538-4239-BB49-9B61ADA5A18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225104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844550" y="476250"/>
            <a:ext cx="1050290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5600"/>
              <a:t>제목 텍스트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844550" y="1619250"/>
            <a:ext cx="10502900" cy="4603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2600"/>
              <a:t>본문 첫 번째 줄</a:t>
            </a:r>
          </a:p>
          <a:p>
            <a:pPr lvl="1">
              <a:defRPr sz="1800"/>
            </a:pPr>
            <a:r>
              <a:rPr sz="2600"/>
              <a:t>본문 두 번째 줄</a:t>
            </a:r>
          </a:p>
          <a:p>
            <a:pPr lvl="2">
              <a:defRPr sz="1800"/>
            </a:pPr>
            <a:r>
              <a:rPr sz="2600"/>
              <a:t>본문 세 번째 줄</a:t>
            </a:r>
          </a:p>
          <a:p>
            <a:pPr lvl="3">
              <a:defRPr sz="1800"/>
            </a:pPr>
            <a:r>
              <a:rPr sz="2600"/>
              <a:t>본문 네 번째 줄</a:t>
            </a:r>
          </a:p>
          <a:p>
            <a:pPr lvl="4">
              <a:defRPr sz="1800"/>
            </a:pPr>
            <a:r>
              <a:rPr sz="2600"/>
              <a:t>본문 다섯 번째 줄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B01CD8D-A813-470A-A094-CDF788587319}"/>
              </a:ext>
            </a:extLst>
          </p:cNvPr>
          <p:cNvCxnSpPr>
            <a:cxnSpLocks/>
          </p:cNvCxnSpPr>
          <p:nvPr/>
        </p:nvCxnSpPr>
        <p:spPr>
          <a:xfrm flipV="1">
            <a:off x="336794" y="574361"/>
            <a:ext cx="11520244" cy="18000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hf hdr="0" ftr="0" dt="0"/>
  <p:txStyles>
    <p:titleStyle>
      <a:lvl1pPr algn="ctr" defTabSz="412750">
        <a:defRPr sz="5600">
          <a:latin typeface="+mn-lt"/>
          <a:ea typeface="+mn-ea"/>
          <a:cs typeface="+mn-cs"/>
          <a:sym typeface="Apple SD 산돌고딕 Neo 일반체"/>
        </a:defRPr>
      </a:lvl1pPr>
      <a:lvl2pPr indent="114300" algn="ctr" defTabSz="412750">
        <a:defRPr sz="5600">
          <a:latin typeface="+mn-lt"/>
          <a:ea typeface="+mn-ea"/>
          <a:cs typeface="+mn-cs"/>
          <a:sym typeface="Apple SD 산돌고딕 Neo 일반체"/>
        </a:defRPr>
      </a:lvl2pPr>
      <a:lvl3pPr indent="228600" algn="ctr" defTabSz="412750">
        <a:defRPr sz="5600">
          <a:latin typeface="+mn-lt"/>
          <a:ea typeface="+mn-ea"/>
          <a:cs typeface="+mn-cs"/>
          <a:sym typeface="Apple SD 산돌고딕 Neo 일반체"/>
        </a:defRPr>
      </a:lvl3pPr>
      <a:lvl4pPr indent="342900" algn="ctr" defTabSz="412750">
        <a:defRPr sz="5600">
          <a:latin typeface="+mn-lt"/>
          <a:ea typeface="+mn-ea"/>
          <a:cs typeface="+mn-cs"/>
          <a:sym typeface="Apple SD 산돌고딕 Neo 일반체"/>
        </a:defRPr>
      </a:lvl4pPr>
      <a:lvl5pPr indent="457200" algn="ctr" defTabSz="412750">
        <a:defRPr sz="5600">
          <a:latin typeface="+mn-lt"/>
          <a:ea typeface="+mn-ea"/>
          <a:cs typeface="+mn-cs"/>
          <a:sym typeface="Apple SD 산돌고딕 Neo 일반체"/>
        </a:defRPr>
      </a:lvl5pPr>
      <a:lvl6pPr indent="571500" algn="ctr" defTabSz="412750">
        <a:defRPr sz="5600">
          <a:latin typeface="+mn-lt"/>
          <a:ea typeface="+mn-ea"/>
          <a:cs typeface="+mn-cs"/>
          <a:sym typeface="Apple SD 산돌고딕 Neo 일반체"/>
        </a:defRPr>
      </a:lvl6pPr>
      <a:lvl7pPr indent="685800" algn="ctr" defTabSz="412750">
        <a:defRPr sz="5600">
          <a:latin typeface="+mn-lt"/>
          <a:ea typeface="+mn-ea"/>
          <a:cs typeface="+mn-cs"/>
          <a:sym typeface="Apple SD 산돌고딕 Neo 일반체"/>
        </a:defRPr>
      </a:lvl7pPr>
      <a:lvl8pPr indent="800100" algn="ctr" defTabSz="412750">
        <a:defRPr sz="5600">
          <a:latin typeface="+mn-lt"/>
          <a:ea typeface="+mn-ea"/>
          <a:cs typeface="+mn-cs"/>
          <a:sym typeface="Apple SD 산돌고딕 Neo 일반체"/>
        </a:defRPr>
      </a:lvl8pPr>
      <a:lvl9pPr indent="914400" algn="ctr" defTabSz="412750">
        <a:defRPr sz="5600">
          <a:latin typeface="+mn-lt"/>
          <a:ea typeface="+mn-ea"/>
          <a:cs typeface="+mn-cs"/>
          <a:sym typeface="Apple SD 산돌고딕 Neo 일반체"/>
        </a:defRPr>
      </a:lvl9pPr>
    </p:titleStyle>
    <p:bodyStyle>
      <a:lvl1pPr marL="317500" indent="-317500" defTabSz="412750">
        <a:spcBef>
          <a:spcPts val="2950"/>
        </a:spcBef>
        <a:buSzPct val="75000"/>
        <a:buChar char="•"/>
        <a:defRPr sz="2600">
          <a:latin typeface="+mn-lt"/>
          <a:ea typeface="+mn-ea"/>
          <a:cs typeface="+mn-cs"/>
          <a:sym typeface="Apple SD 산돌고딕 Neo 일반체"/>
        </a:defRPr>
      </a:lvl1pPr>
      <a:lvl2pPr marL="635000" indent="-317500" defTabSz="412750">
        <a:spcBef>
          <a:spcPts val="2950"/>
        </a:spcBef>
        <a:buSzPct val="75000"/>
        <a:buChar char="•"/>
        <a:defRPr sz="2600">
          <a:latin typeface="+mn-lt"/>
          <a:ea typeface="+mn-ea"/>
          <a:cs typeface="+mn-cs"/>
          <a:sym typeface="Apple SD 산돌고딕 Neo 일반체"/>
        </a:defRPr>
      </a:lvl2pPr>
      <a:lvl3pPr marL="952500" indent="-317500" defTabSz="412750">
        <a:spcBef>
          <a:spcPts val="2950"/>
        </a:spcBef>
        <a:buSzPct val="75000"/>
        <a:buChar char="•"/>
        <a:defRPr sz="2600">
          <a:latin typeface="+mn-lt"/>
          <a:ea typeface="+mn-ea"/>
          <a:cs typeface="+mn-cs"/>
          <a:sym typeface="Apple SD 산돌고딕 Neo 일반체"/>
        </a:defRPr>
      </a:lvl3pPr>
      <a:lvl4pPr marL="1270000" indent="-317500" defTabSz="412750">
        <a:spcBef>
          <a:spcPts val="2950"/>
        </a:spcBef>
        <a:buSzPct val="75000"/>
        <a:buChar char="•"/>
        <a:defRPr sz="2600">
          <a:latin typeface="+mn-lt"/>
          <a:ea typeface="+mn-ea"/>
          <a:cs typeface="+mn-cs"/>
          <a:sym typeface="Apple SD 산돌고딕 Neo 일반체"/>
        </a:defRPr>
      </a:lvl4pPr>
      <a:lvl5pPr marL="1587500" indent="-317500" defTabSz="412750">
        <a:spcBef>
          <a:spcPts val="2950"/>
        </a:spcBef>
        <a:buSzPct val="75000"/>
        <a:buChar char="•"/>
        <a:defRPr sz="2600">
          <a:latin typeface="+mn-lt"/>
          <a:ea typeface="+mn-ea"/>
          <a:cs typeface="+mn-cs"/>
          <a:sym typeface="Apple SD 산돌고딕 Neo 일반체"/>
        </a:defRPr>
      </a:lvl5pPr>
      <a:lvl6pPr marL="1905000" indent="-317500" defTabSz="412750">
        <a:spcBef>
          <a:spcPts val="2950"/>
        </a:spcBef>
        <a:buSzPct val="75000"/>
        <a:buChar char="•"/>
        <a:defRPr sz="2600">
          <a:latin typeface="+mn-lt"/>
          <a:ea typeface="+mn-ea"/>
          <a:cs typeface="+mn-cs"/>
          <a:sym typeface="Apple SD 산돌고딕 Neo 일반체"/>
        </a:defRPr>
      </a:lvl6pPr>
      <a:lvl7pPr marL="2222500" indent="-317500" defTabSz="412750">
        <a:spcBef>
          <a:spcPts val="2950"/>
        </a:spcBef>
        <a:buSzPct val="75000"/>
        <a:buChar char="•"/>
        <a:defRPr sz="2600">
          <a:latin typeface="+mn-lt"/>
          <a:ea typeface="+mn-ea"/>
          <a:cs typeface="+mn-cs"/>
          <a:sym typeface="Apple SD 산돌고딕 Neo 일반체"/>
        </a:defRPr>
      </a:lvl7pPr>
      <a:lvl8pPr marL="2540000" indent="-317500" defTabSz="412750">
        <a:spcBef>
          <a:spcPts val="2950"/>
        </a:spcBef>
        <a:buSzPct val="75000"/>
        <a:buChar char="•"/>
        <a:defRPr sz="2600">
          <a:latin typeface="+mn-lt"/>
          <a:ea typeface="+mn-ea"/>
          <a:cs typeface="+mn-cs"/>
          <a:sym typeface="Apple SD 산돌고딕 Neo 일반체"/>
        </a:defRPr>
      </a:lvl8pPr>
      <a:lvl9pPr marL="2857500" indent="-317500" defTabSz="412750">
        <a:spcBef>
          <a:spcPts val="2950"/>
        </a:spcBef>
        <a:buSzPct val="75000"/>
        <a:buChar char="•"/>
        <a:defRPr sz="2600">
          <a:latin typeface="+mn-lt"/>
          <a:ea typeface="+mn-ea"/>
          <a:cs typeface="+mn-cs"/>
          <a:sym typeface="Apple SD 산돌고딕 Neo 일반체"/>
        </a:defRPr>
      </a:lvl9pPr>
    </p:bodyStyle>
    <p:otherStyle>
      <a:lvl1pPr algn="ctr" defTabSz="412750">
        <a:defRPr sz="1200">
          <a:solidFill>
            <a:schemeClr val="tx1"/>
          </a:solidFill>
          <a:latin typeface="+mn-lt"/>
          <a:ea typeface="+mn-ea"/>
          <a:cs typeface="+mn-cs"/>
          <a:sym typeface="Apple SD 산돌고딕 Neo 일반체"/>
        </a:defRPr>
      </a:lvl1pPr>
      <a:lvl2pPr indent="114300" algn="ctr" defTabSz="412750">
        <a:defRPr sz="1200">
          <a:solidFill>
            <a:schemeClr val="tx1"/>
          </a:solidFill>
          <a:latin typeface="+mn-lt"/>
          <a:ea typeface="+mn-ea"/>
          <a:cs typeface="+mn-cs"/>
          <a:sym typeface="Apple SD 산돌고딕 Neo 일반체"/>
        </a:defRPr>
      </a:lvl2pPr>
      <a:lvl3pPr indent="228600" algn="ctr" defTabSz="412750">
        <a:defRPr sz="1200">
          <a:solidFill>
            <a:schemeClr val="tx1"/>
          </a:solidFill>
          <a:latin typeface="+mn-lt"/>
          <a:ea typeface="+mn-ea"/>
          <a:cs typeface="+mn-cs"/>
          <a:sym typeface="Apple SD 산돌고딕 Neo 일반체"/>
        </a:defRPr>
      </a:lvl3pPr>
      <a:lvl4pPr indent="342900" algn="ctr" defTabSz="412750">
        <a:defRPr sz="1200">
          <a:solidFill>
            <a:schemeClr val="tx1"/>
          </a:solidFill>
          <a:latin typeface="+mn-lt"/>
          <a:ea typeface="+mn-ea"/>
          <a:cs typeface="+mn-cs"/>
          <a:sym typeface="Apple SD 산돌고딕 Neo 일반체"/>
        </a:defRPr>
      </a:lvl4pPr>
      <a:lvl5pPr indent="457200" algn="ctr" defTabSz="412750">
        <a:defRPr sz="1200">
          <a:solidFill>
            <a:schemeClr val="tx1"/>
          </a:solidFill>
          <a:latin typeface="+mn-lt"/>
          <a:ea typeface="+mn-ea"/>
          <a:cs typeface="+mn-cs"/>
          <a:sym typeface="Apple SD 산돌고딕 Neo 일반체"/>
        </a:defRPr>
      </a:lvl5pPr>
      <a:lvl6pPr indent="571500" algn="ctr" defTabSz="412750">
        <a:defRPr sz="1200">
          <a:solidFill>
            <a:schemeClr val="tx1"/>
          </a:solidFill>
          <a:latin typeface="+mn-lt"/>
          <a:ea typeface="+mn-ea"/>
          <a:cs typeface="+mn-cs"/>
          <a:sym typeface="Apple SD 산돌고딕 Neo 일반체"/>
        </a:defRPr>
      </a:lvl6pPr>
      <a:lvl7pPr indent="685800" algn="ctr" defTabSz="412750">
        <a:defRPr sz="1200">
          <a:solidFill>
            <a:schemeClr val="tx1"/>
          </a:solidFill>
          <a:latin typeface="+mn-lt"/>
          <a:ea typeface="+mn-ea"/>
          <a:cs typeface="+mn-cs"/>
          <a:sym typeface="Apple SD 산돌고딕 Neo 일반체"/>
        </a:defRPr>
      </a:lvl7pPr>
      <a:lvl8pPr indent="800100" algn="ctr" defTabSz="412750">
        <a:defRPr sz="1200">
          <a:solidFill>
            <a:schemeClr val="tx1"/>
          </a:solidFill>
          <a:latin typeface="+mn-lt"/>
          <a:ea typeface="+mn-ea"/>
          <a:cs typeface="+mn-cs"/>
          <a:sym typeface="Apple SD 산돌고딕 Neo 일반체"/>
        </a:defRPr>
      </a:lvl8pPr>
      <a:lvl9pPr indent="914400" algn="ctr" defTabSz="412750">
        <a:defRPr sz="1200">
          <a:solidFill>
            <a:schemeClr val="tx1"/>
          </a:solidFill>
          <a:latin typeface="+mn-lt"/>
          <a:ea typeface="+mn-ea"/>
          <a:cs typeface="+mn-cs"/>
          <a:sym typeface="Apple SD 산돌고딕 Neo 일반체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46">
            <a:extLst>
              <a:ext uri="{FF2B5EF4-FFF2-40B4-BE49-F238E27FC236}">
                <a16:creationId xmlns:a16="http://schemas.microsoft.com/office/drawing/2014/main" id="{CBD02128-CEB8-4823-845B-2495B137684C}"/>
              </a:ext>
            </a:extLst>
          </p:cNvPr>
          <p:cNvSpPr/>
          <p:nvPr/>
        </p:nvSpPr>
        <p:spPr>
          <a:xfrm>
            <a:off x="239712" y="95765"/>
            <a:ext cx="8942041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 algn="l">
              <a:defRPr sz="6200">
                <a:latin typeface="나눔스퀘어OTF_ac Bold"/>
                <a:ea typeface="나눔스퀘어OTF_ac Bold"/>
                <a:cs typeface="나눔스퀘어OTF_ac Bold"/>
                <a:sym typeface="나눔스퀘어OTF_ac Bold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lang="en-US" altLang="ko-KR" sz="2400" b="1" kern="12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26</a:t>
            </a:r>
            <a:r>
              <a:rPr lang="ko-KR" altLang="en-US" sz="2400" b="1" kern="12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 </a:t>
            </a:r>
            <a:r>
              <a:rPr lang="en-US" altLang="ko-KR" sz="2400" b="1" kern="12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11</a:t>
            </a:r>
            <a:r>
              <a:rPr lang="ko-KR" altLang="en-US" sz="2400" b="1" kern="12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제휴 판촉 캘린더 </a:t>
            </a:r>
            <a:r>
              <a:rPr lang="en-US" altLang="ko-KR" sz="2400" b="1" kern="12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400" b="1" kern="12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초안</a:t>
            </a:r>
            <a:r>
              <a:rPr lang="en-US" altLang="ko-KR" sz="2400" b="1" kern="12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0" lang="en-US" altLang="ko-KR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sym typeface="나눔스퀘어OTF_ac Bold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7BDE311-F336-4B51-96A3-C8509751F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897290"/>
              </p:ext>
            </p:extLst>
          </p:nvPr>
        </p:nvGraphicFramePr>
        <p:xfrm>
          <a:off x="366439" y="712107"/>
          <a:ext cx="11460585" cy="5743654"/>
        </p:xfrm>
        <a:graphic>
          <a:graphicData uri="http://schemas.openxmlformats.org/drawingml/2006/table">
            <a:tbl>
              <a:tblPr firstRow="1" bandRow="1"/>
              <a:tblGrid>
                <a:gridCol w="334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869">
                  <a:extLst>
                    <a:ext uri="{9D8B030D-6E8A-4147-A177-3AD203B41FA5}">
                      <a16:colId xmlns:a16="http://schemas.microsoft.com/office/drawing/2014/main" val="770167306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3762894968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885009010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1183773670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1890177330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1177146433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606140237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74739308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1502307897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3421735089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166103325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514408357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3248730434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4458557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1353644442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3803926299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817649811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719342592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209416357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28735762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3321425309"/>
                    </a:ext>
                  </a:extLst>
                </a:gridCol>
              </a:tblGrid>
              <a:tr h="216000">
                <a:tc rowSpan="2" gridSpan="2"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구분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1pPr>
                      <a:lvl2pPr marL="45720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2pPr>
                      <a:lvl3pPr marL="914411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3pPr>
                      <a:lvl4pPr marL="1371617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4pPr>
                      <a:lvl5pPr marL="1828823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5pPr>
                      <a:lvl6pPr marL="2286029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6pPr>
                      <a:lvl7pPr marL="2743234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7pPr>
                      <a:lvl8pPr marL="320044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8pPr>
                      <a:lvl9pPr marL="365764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30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1pPr>
                      <a:lvl2pPr marL="45720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2pPr>
                      <a:lvl3pPr marL="914411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3pPr>
                      <a:lvl4pPr marL="1371617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4pPr>
                      <a:lvl5pPr marL="1828823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5pPr>
                      <a:lvl6pPr marL="2286029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6pPr>
                      <a:lvl7pPr marL="2743234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7pPr>
                      <a:lvl8pPr marL="320044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8pPr>
                      <a:lvl9pPr marL="365764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31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4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5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6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7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8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9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10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11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12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13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14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15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16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17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18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19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20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21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22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23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24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25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26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27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28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29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30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gridSpan="2" v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금</a:t>
                      </a:r>
                      <a:endParaRPr lang="ko-KR" altLang="en-US" sz="105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토</a:t>
                      </a:r>
                      <a:endParaRPr lang="ko-KR" altLang="en-US" sz="105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일</a:t>
                      </a:r>
                      <a:endParaRPr lang="ko-KR" altLang="en-US" sz="105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화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수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목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금</a:t>
                      </a:r>
                      <a:endParaRPr lang="ko-KR" altLang="en-US" sz="105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토</a:t>
                      </a:r>
                      <a:endParaRPr lang="ko-KR" altLang="en-US" sz="105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일</a:t>
                      </a:r>
                      <a:endParaRPr lang="ko-KR" altLang="en-US" sz="105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화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목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화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수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목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화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수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목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토</a:t>
                      </a:r>
                      <a:endParaRPr lang="ko-KR" altLang="en-US" sz="105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일</a:t>
                      </a:r>
                      <a:endParaRPr lang="ko-KR" altLang="en-US" sz="105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97">
                <a:tc gridSpan="2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테마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gridSpan="14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코리아 그랜드 페스티벌</a:t>
                      </a:r>
                      <a:endParaRPr kumimoji="0" lang="en-US" altLang="ko-KR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>
                      <a:lvl1pPr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1pPr>
                      <a:lvl2pPr indent="1143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2pPr>
                      <a:lvl3pPr indent="2286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3pPr>
                      <a:lvl4pPr indent="3429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4pPr>
                      <a:lvl5pPr indent="4572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5pPr>
                      <a:lvl6pPr indent="5715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6pPr>
                      <a:lvl7pPr indent="6858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7pPr>
                      <a:lvl8pPr indent="8001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8pPr>
                      <a:lvl9pPr indent="9144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1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겨울 정기 세일 </a:t>
                      </a:r>
                      <a:r>
                        <a:rPr kumimoji="0" lang="en-US" altLang="ko-KR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(sub. </a:t>
                      </a: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세일</a:t>
                      </a:r>
                      <a:r>
                        <a:rPr kumimoji="0" lang="en-US" altLang="ko-KR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쇼핑</a:t>
                      </a:r>
                      <a:r>
                        <a:rPr kumimoji="0" lang="en-US" altLang="ko-KR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>
                      <a:lvl1pPr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1pPr>
                      <a:lvl2pPr indent="1143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2pPr>
                      <a:lvl3pPr indent="2286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3pPr>
                      <a:lvl4pPr indent="3429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4pPr>
                      <a:lvl5pPr indent="4572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5pPr>
                      <a:lvl6pPr indent="5715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6pPr>
                      <a:lvl7pPr indent="6858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7pPr>
                      <a:lvl8pPr indent="8001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8pPr>
                      <a:lvl9pPr indent="9144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>
                      <a:lvl1pPr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1pPr>
                      <a:lvl2pPr indent="1143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2pPr>
                      <a:lvl3pPr indent="2286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3pPr>
                      <a:lvl4pPr indent="3429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4pPr>
                      <a:lvl5pPr indent="4572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5pPr>
                      <a:lvl6pPr indent="5715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6pPr>
                      <a:lvl7pPr indent="6858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7pPr>
                      <a:lvl8pPr indent="8001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8pPr>
                      <a:lvl9pPr indent="9144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윈터 패션</a:t>
                      </a:r>
                      <a:endParaRPr kumimoji="0" lang="en-US" altLang="ko-KR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97">
                <a:tc gridSpan="2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주요 방향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MASS </a:t>
                      </a: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고객 볼륨 확대</a:t>
                      </a: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공판</a:t>
                      </a: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9pPr>
                    </a:lstStyle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우수고객 </a:t>
                      </a:r>
                      <a:r>
                        <a:rPr kumimoji="0" lang="en-US" altLang="ko-KR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패션 초대회</a:t>
                      </a: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9pPr>
                    </a:lstStyle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공판</a:t>
                      </a: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9pPr>
                    </a:lstStyle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1pPr>
                      <a:lvl2pPr marL="45720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2pPr>
                      <a:lvl3pPr marL="914411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3pPr>
                      <a:lvl4pPr marL="1371617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4pPr>
                      <a:lvl5pPr marL="1828823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5pPr>
                      <a:lvl6pPr marL="2286029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6pPr>
                      <a:lvl7pPr marL="2743234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7pPr>
                      <a:lvl8pPr marL="320044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8pPr>
                      <a:lvl9pPr marL="365764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9pPr>
                    </a:lstStyle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자사 </a:t>
                      </a:r>
                      <a:r>
                        <a:rPr kumimoji="0" lang="en-US" altLang="ko-KR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MASS </a:t>
                      </a: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중심</a:t>
                      </a: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733838"/>
                  </a:ext>
                </a:extLst>
              </a:tr>
              <a:tr h="900000">
                <a:tc rowSpan="5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11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ctr" defTabSz="412750" rtl="0" eaLnBrk="1" latinLnBrk="1" hangingPunct="1">
                        <a:defRPr sz="1200" kern="1200">
                          <a:solidFill>
                            <a:schemeClr val="tx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0" indent="114300" algn="ctr" defTabSz="412750" rtl="0" eaLnBrk="1" latinLnBrk="1" hangingPunct="1">
                        <a:defRPr sz="1200" kern="1200">
                          <a:solidFill>
                            <a:schemeClr val="tx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00" indent="228600" algn="ctr" defTabSz="412750" rtl="0" eaLnBrk="1" latinLnBrk="1" hangingPunct="1">
                        <a:defRPr sz="1200" kern="1200">
                          <a:solidFill>
                            <a:schemeClr val="tx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00" indent="342900" algn="ctr" defTabSz="412750" rtl="0" eaLnBrk="1" latinLnBrk="1" hangingPunct="1">
                        <a:defRPr sz="1200" kern="1200">
                          <a:solidFill>
                            <a:schemeClr val="tx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00" indent="457200" algn="ctr" defTabSz="412750" rtl="0" eaLnBrk="1" latinLnBrk="1" hangingPunct="1">
                        <a:defRPr sz="1200" kern="1200">
                          <a:solidFill>
                            <a:schemeClr val="tx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00" indent="571500" algn="ctr" defTabSz="412750" rtl="0" eaLnBrk="1" latinLnBrk="1" hangingPunct="1">
                        <a:defRPr sz="1200" kern="1200">
                          <a:solidFill>
                            <a:schemeClr val="tx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00" indent="685800" algn="ctr" defTabSz="412750" rtl="0" eaLnBrk="1" latinLnBrk="1" hangingPunct="1">
                        <a:defRPr sz="1200" kern="1200">
                          <a:solidFill>
                            <a:schemeClr val="tx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00" indent="800100" algn="ctr" defTabSz="412750" rtl="0" eaLnBrk="1" latinLnBrk="1" hangingPunct="1">
                        <a:defRPr sz="1200" kern="1200">
                          <a:solidFill>
                            <a:schemeClr val="tx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00" indent="914400" algn="ctr" defTabSz="412750" rtl="0" eaLnBrk="1" latinLnBrk="1" hangingPunct="1">
                        <a:defRPr sz="1200" kern="1200">
                          <a:solidFill>
                            <a:schemeClr val="tx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신한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Plus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  <a:defRPr lang="ko-KR" altLang="en-US"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발급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7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4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1pPr>
                      <a:lvl2pPr marL="45720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2pPr>
                      <a:lvl3pPr marL="914411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3pPr>
                      <a:lvl4pPr marL="1371617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4pPr>
                      <a:lvl5pPr marL="1828823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5pPr>
                      <a:lvl6pPr marL="2286029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6pPr>
                      <a:lvl7pPr marL="2743234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7pPr>
                      <a:lvl8pPr marL="320044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8pPr>
                      <a:lvl9pPr marL="365764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정기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</a:p>
                    <a:p>
                      <a:pPr algn="ctr" latinLnBrk="1">
                        <a:defRPr lang="ko-KR" altLang="en-US"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월간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7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1pPr>
                      <a:lvl2pPr marL="45720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2pPr>
                      <a:lvl3pPr marL="914411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3pPr>
                      <a:lvl4pPr marL="1371617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4pPr>
                      <a:lvl5pPr marL="1828823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5pPr>
                      <a:lvl6pPr marL="2286029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6pPr>
                      <a:lvl7pPr marL="2743234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7pPr>
                      <a:lvl8pPr marL="320044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8pPr>
                      <a:lvl9pPr marL="365764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0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251721"/>
                  </a:ext>
                </a:extLst>
              </a:tr>
              <a:tr h="158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전관</a:t>
                      </a:r>
                      <a:endParaRPr lang="en-US" altLang="ko-KR" sz="900" b="1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</a:p>
                    <a:p>
                      <a:pPr algn="ctr" latinLnBrk="1">
                        <a:defRPr lang="ko-KR" altLang="en-US"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패션</a:t>
                      </a:r>
                      <a:endParaRPr lang="en-US" altLang="ko-KR" sz="900" b="1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2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1pPr>
                      <a:lvl2pPr marL="45720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2pPr>
                      <a:lvl3pPr marL="914411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3pPr>
                      <a:lvl4pPr marL="1371617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4pPr>
                      <a:lvl5pPr marL="1828823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5pPr>
                      <a:lvl6pPr marL="2286029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6pPr>
                      <a:lvl7pPr marL="2743234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7pPr>
                      <a:lvl8pPr marL="320044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8pPr>
                      <a:lvl9pPr marL="365764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562368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가전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</a:p>
                    <a:p>
                      <a:pPr algn="ctr" latinLnBrk="1">
                        <a:defRPr lang="ko-KR" altLang="en-US"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가구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2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1pPr>
                      <a:lvl2pPr marL="45720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2pPr>
                      <a:lvl3pPr marL="914411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3pPr>
                      <a:lvl4pPr marL="1371617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4pPr>
                      <a:lvl5pPr marL="1828823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5pPr>
                      <a:lvl6pPr marL="2286029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6pPr>
                      <a:lvl7pPr marL="2743234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7pPr>
                      <a:lvl8pPr marL="320044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8pPr>
                      <a:lvl9pPr marL="365764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417855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기타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2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1pPr>
                      <a:lvl2pPr marL="45720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2pPr>
                      <a:lvl3pPr marL="914411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3pPr>
                      <a:lvl4pPr marL="1371617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4pPr>
                      <a:lvl5pPr marL="1828823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5pPr>
                      <a:lvl6pPr marL="2286029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6pPr>
                      <a:lvl7pPr marL="2743234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7pPr>
                      <a:lvl8pPr marL="320044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8pPr>
                      <a:lvl9pPr marL="365764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7528298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3AE7F754-C514-4D01-BE87-1F0194F08A85}"/>
              </a:ext>
            </a:extLst>
          </p:cNvPr>
          <p:cNvSpPr/>
          <p:nvPr/>
        </p:nvSpPr>
        <p:spPr>
          <a:xfrm>
            <a:off x="1460599" y="2187817"/>
            <a:ext cx="10344267" cy="432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E7E6E6">
                <a:lumMod val="90000"/>
              </a:srgbClr>
            </a:solidFill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[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신한 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Plus 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발급 ②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]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전관 합산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첫결제 조건 충족 시 모바일 상품권 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 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캐시백 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(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월간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, 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수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분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평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원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- (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신규 발급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)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모바일 상품권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10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만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 </a:t>
            </a:r>
            <a:r>
              <a:rPr kumimoji="0" lang="ko-KR" altLang="en-US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캐시백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4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만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, (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재발급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)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모바일 상품권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3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만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 </a:t>
            </a:r>
            <a:r>
              <a:rPr kumimoji="0" lang="ko-KR" altLang="en-US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캐시백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2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만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(</a:t>
            </a:r>
            <a:r>
              <a:rPr lang="ko-KR" altLang="en-US" sz="8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익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월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말 혜택 증정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) 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★ 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0.2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억</a:t>
            </a:r>
            <a:endParaRPr kumimoji="0" lang="en-US" altLang="ko-KR" sz="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sym typeface="Apple SD 산돌고딕 Neo 일반체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A62886-47CA-4F58-8878-8551887D01B2}"/>
              </a:ext>
            </a:extLst>
          </p:cNvPr>
          <p:cNvSpPr/>
          <p:nvPr/>
        </p:nvSpPr>
        <p:spPr>
          <a:xfrm>
            <a:off x="1173852" y="2184503"/>
            <a:ext cx="288000" cy="432000"/>
          </a:xfrm>
          <a:prstGeom prst="rect">
            <a:avLst/>
          </a:prstGeom>
          <a:solidFill>
            <a:srgbClr val="ED7D31"/>
          </a:solidFill>
          <a:ln w="12700" cap="flat" cmpd="sng" algn="ctr">
            <a:solidFill>
              <a:srgbClr val="E7E6E6">
                <a:lumMod val="90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리워드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sym typeface="Apple SD 산돌고딕 Neo 일반체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CC7C9B0-E55C-4059-8753-D4ADFF23AA7A}"/>
              </a:ext>
            </a:extLst>
          </p:cNvPr>
          <p:cNvGrpSpPr/>
          <p:nvPr/>
        </p:nvGrpSpPr>
        <p:grpSpPr>
          <a:xfrm>
            <a:off x="1177467" y="5116395"/>
            <a:ext cx="10621968" cy="439200"/>
            <a:chOff x="1261165" y="3330794"/>
            <a:chExt cx="10939052" cy="68238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32F2A90-FF0E-4B13-BE14-F87B8D27EA10}"/>
                </a:ext>
              </a:extLst>
            </p:cNvPr>
            <p:cNvSpPr/>
            <p:nvPr/>
          </p:nvSpPr>
          <p:spPr>
            <a:xfrm>
              <a:off x="1559855" y="3330797"/>
              <a:ext cx="10640362" cy="682379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[</a:t>
              </a: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네이버페이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/NH] </a:t>
              </a:r>
              <a:r>
                <a:rPr kumimoji="0" lang="ko-KR" altLang="en-US" sz="800" b="1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가전 단일 </a:t>
              </a:r>
              <a:r>
                <a:rPr kumimoji="0" lang="en-US" altLang="ko-KR" sz="800" b="1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200/300/500/700/1,000</a:t>
              </a:r>
              <a:r>
                <a:rPr kumimoji="0" lang="ko-KR" altLang="en-US" sz="800" b="1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만 </a:t>
              </a:r>
              <a:r>
                <a:rPr kumimoji="0" lang="en-US" altLang="ko-KR" sz="800" b="1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[9~10%] * NP+</a:t>
              </a:r>
              <a:r>
                <a:rPr kumimoji="0" lang="ko-KR" altLang="en-US" sz="800" b="1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신한</a:t>
              </a:r>
              <a:r>
                <a:rPr kumimoji="0" lang="en-US" altLang="ko-KR" sz="800" b="1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P </a:t>
              </a:r>
              <a:r>
                <a:rPr kumimoji="0" lang="ko-KR" altLang="en-US" sz="800" b="1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증정률 </a:t>
              </a:r>
              <a:r>
                <a:rPr kumimoji="0" lang="en-US" altLang="ko-KR" sz="800" b="1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+1% </a:t>
              </a:r>
              <a:r>
                <a:rPr kumimoji="0" lang="ko-KR" altLang="en-US" sz="800" b="1" i="0" u="none" strike="noStrike" kern="0" cap="none" spc="-3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★ </a:t>
              </a:r>
              <a:r>
                <a:rPr kumimoji="0" lang="en-US" altLang="ko-KR" sz="800" b="1" i="0" u="none" strike="noStrike" kern="0" cap="none" spc="-3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0.35</a:t>
              </a:r>
              <a:r>
                <a:rPr kumimoji="0" lang="ko-KR" altLang="en-US" sz="800" b="1" i="0" u="none" strike="noStrike" kern="0" cap="none" spc="-3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억  </a:t>
              </a:r>
              <a:r>
                <a:rPr kumimoji="0" lang="en-US" altLang="ko-KR" sz="800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(11/1~30, </a:t>
              </a:r>
              <a:r>
                <a:rPr kumimoji="0" lang="ko-KR" altLang="en-US" sz="80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수</a:t>
              </a:r>
              <a:r>
                <a:rPr kumimoji="0" lang="en-US" altLang="ko-KR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/</a:t>
              </a:r>
              <a:r>
                <a:rPr kumimoji="0" lang="ko-KR" altLang="en-US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분</a:t>
              </a:r>
              <a:r>
                <a:rPr kumimoji="0" lang="en-US" altLang="ko-KR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/</a:t>
              </a:r>
              <a:r>
                <a:rPr kumimoji="0" lang="ko-KR" altLang="en-US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평</a:t>
              </a:r>
              <a:r>
                <a:rPr kumimoji="0" lang="en-US" altLang="ko-KR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/</a:t>
              </a:r>
              <a:r>
                <a:rPr kumimoji="0" lang="ko-KR" altLang="en-US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원</a:t>
              </a:r>
              <a:r>
                <a:rPr kumimoji="0" lang="en-US" altLang="ko-KR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/</a:t>
              </a:r>
              <a:r>
                <a:rPr kumimoji="0" lang="ko-KR" altLang="en-US" sz="800" b="0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광</a:t>
              </a:r>
              <a:r>
                <a:rPr kumimoji="0" lang="en-US" altLang="ko-KR" sz="800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① </a:t>
              </a:r>
              <a:r>
                <a:rPr kumimoji="0" lang="ko-KR" altLang="en-US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기본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9% =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점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3.25 :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페이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3.25 :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브랜드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2.5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② 네이버페이 등록 신한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P 10%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=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점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3.25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: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페이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3.25 :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브랜드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2.5 : 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카드 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1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(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광명 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- 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네이버페이 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10% = AK 3.5 : 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페이 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3 : 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브랜드 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3.5, 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네이버페이 등록 신한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P 11% = AK 3.5 : 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페이 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3 : 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브랜드 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3.5 : 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카드 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1)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11341FC-0AC2-44FB-B73A-809C03021FE5}"/>
                </a:ext>
              </a:extLst>
            </p:cNvPr>
            <p:cNvSpPr/>
            <p:nvPr/>
          </p:nvSpPr>
          <p:spPr>
            <a:xfrm>
              <a:off x="1261165" y="3330794"/>
              <a:ext cx="288000" cy="682382"/>
            </a:xfrm>
            <a:prstGeom prst="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가전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A01579B7-19CF-423F-8AE7-726811346B12}"/>
              </a:ext>
            </a:extLst>
          </p:cNvPr>
          <p:cNvGrpSpPr/>
          <p:nvPr/>
        </p:nvGrpSpPr>
        <p:grpSpPr>
          <a:xfrm>
            <a:off x="1181413" y="5565332"/>
            <a:ext cx="10618021" cy="439200"/>
            <a:chOff x="1261165" y="3330794"/>
            <a:chExt cx="11175710" cy="68238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2C1F20D-5A01-4D6B-9D4B-E8E5224F4D79}"/>
                </a:ext>
              </a:extLst>
            </p:cNvPr>
            <p:cNvSpPr/>
            <p:nvPr/>
          </p:nvSpPr>
          <p:spPr>
            <a:xfrm>
              <a:off x="1552052" y="3330796"/>
              <a:ext cx="10884823" cy="68238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[</a:t>
              </a: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네이버페이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/NH] </a:t>
              </a:r>
              <a:r>
                <a:rPr kumimoji="0" lang="ko-KR" altLang="en-US" sz="800" b="1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가구 단일 </a:t>
              </a:r>
              <a:r>
                <a:rPr kumimoji="0" lang="en-US" altLang="ko-KR" sz="800" b="1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200/300/500/700/1,000</a:t>
              </a:r>
              <a:r>
                <a:rPr kumimoji="0" lang="ko-KR" altLang="en-US" sz="800" b="1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만 </a:t>
              </a:r>
              <a:r>
                <a:rPr kumimoji="0" lang="en-US" altLang="ko-KR" sz="800" b="1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[12~13%] * NP+</a:t>
              </a:r>
              <a:r>
                <a:rPr kumimoji="0" lang="ko-KR" altLang="en-US" sz="800" b="1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신한</a:t>
              </a:r>
              <a:r>
                <a:rPr kumimoji="0" lang="en-US" altLang="ko-KR" sz="800" b="1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P </a:t>
              </a:r>
              <a:r>
                <a:rPr kumimoji="0" lang="ko-KR" altLang="en-US" sz="800" b="1" i="0" u="none" strike="noStrike" kern="0" cap="none" spc="-3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증정률</a:t>
              </a:r>
              <a:r>
                <a:rPr kumimoji="0" lang="ko-KR" altLang="en-US" sz="800" b="1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</a:t>
              </a:r>
              <a:r>
                <a:rPr kumimoji="0" lang="en-US" altLang="ko-KR" sz="800" b="1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+</a:t>
              </a:r>
              <a:r>
                <a:rPr kumimoji="0" lang="en-US" altLang="ko-KR" sz="800" b="1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1% </a:t>
              </a:r>
              <a:r>
                <a:rPr kumimoji="0" lang="ko-KR" altLang="en-US" sz="800" b="1" i="0" u="none" strike="noStrike" kern="0" cap="none" spc="-3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★ </a:t>
              </a:r>
              <a:r>
                <a:rPr kumimoji="0" lang="en-US" altLang="ko-KR" sz="800" b="1" i="0" u="none" strike="noStrike" kern="0" cap="none" spc="-3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0.1</a:t>
              </a:r>
              <a:r>
                <a:rPr kumimoji="0" lang="ko-KR" altLang="en-US" sz="800" b="1" i="0" u="none" strike="noStrike" kern="0" cap="none" spc="-3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억</a:t>
              </a:r>
              <a:r>
                <a:rPr kumimoji="0" lang="en-US" altLang="ko-KR" sz="800" b="0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 </a:t>
              </a:r>
              <a:r>
                <a:rPr lang="en-US" altLang="ko-KR" sz="80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(11/1~30</a:t>
              </a:r>
              <a:r>
                <a:rPr kumimoji="0" lang="en-US" altLang="ko-KR" sz="800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, </a:t>
              </a:r>
              <a:r>
                <a:rPr kumimoji="0" lang="ko-KR" altLang="en-US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수</a:t>
              </a:r>
              <a:r>
                <a:rPr kumimoji="0" lang="en-US" altLang="ko-KR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/</a:t>
              </a:r>
              <a:r>
                <a:rPr kumimoji="0" lang="ko-KR" altLang="en-US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분</a:t>
              </a:r>
              <a:r>
                <a:rPr kumimoji="0" lang="en-US" altLang="ko-KR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/</a:t>
              </a:r>
              <a:r>
                <a:rPr kumimoji="0" lang="ko-KR" altLang="en-US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평</a:t>
              </a:r>
              <a:r>
                <a:rPr kumimoji="0" lang="en-US" altLang="ko-KR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/</a:t>
              </a:r>
              <a:r>
                <a:rPr kumimoji="0" lang="ko-KR" altLang="en-US" sz="800" b="0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원</a:t>
              </a:r>
              <a:r>
                <a:rPr lang="en-US" altLang="ko-KR" sz="80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  <a:endParaRPr kumimoji="0" lang="en-US" altLang="ko-KR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① 기본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12%=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점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5 :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페이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2 :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브랜드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5 (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일부 참여 브랜드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9%)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② 네이버페이 등록 신한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P 13% =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점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5 :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페이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2 :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브랜드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5 :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카드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1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97FBC1F-61E8-4488-8D58-B3309F7174E2}"/>
                </a:ext>
              </a:extLst>
            </p:cNvPr>
            <p:cNvSpPr/>
            <p:nvPr/>
          </p:nvSpPr>
          <p:spPr>
            <a:xfrm>
              <a:off x="1261165" y="3330794"/>
              <a:ext cx="288000" cy="682382"/>
            </a:xfrm>
            <a:prstGeom prst="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가구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8C4DEB8-1234-41D2-93D6-8C379D151E26}"/>
              </a:ext>
            </a:extLst>
          </p:cNvPr>
          <p:cNvSpPr/>
          <p:nvPr/>
        </p:nvSpPr>
        <p:spPr>
          <a:xfrm>
            <a:off x="1474521" y="3079938"/>
            <a:ext cx="10330346" cy="432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E7E6E6">
                <a:lumMod val="90000"/>
              </a:srgbClr>
            </a:solidFill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[PAYCO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포인트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]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전관 및 특정 장르 사은 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행사 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(</a:t>
            </a:r>
            <a:r>
              <a:rPr lang="en-US" altLang="ko-KR" sz="800" b="1">
                <a:solidFill>
                  <a:srgbClr val="0000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7~10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%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전관 사은 ★ 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CAP 0.15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억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, APP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쿠폰 채널 포함 운영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① 전관 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합산 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15/30/60/100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만 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[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평일 </a:t>
            </a:r>
            <a:r>
              <a:rPr lang="en-US" altLang="ko-KR" sz="8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7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%, 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주말 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10% 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상향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]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(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월간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, 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수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분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평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원</a:t>
            </a:r>
            <a:r>
              <a:rPr kumimoji="0" lang="en-US" altLang="ko-KR" sz="800" b="0" i="0" u="none" strike="noStrike" kern="0" cap="none" spc="-3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, </a:t>
            </a:r>
            <a:r>
              <a:rPr kumimoji="0" lang="ko-KR" altLang="en-US" sz="800" b="0" i="0" u="none" strike="noStrike" kern="0" cap="none" spc="-3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점</a:t>
            </a:r>
            <a:r>
              <a:rPr lang="en-US" altLang="ko-KR" sz="800" spc="-3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</a:t>
            </a:r>
            <a:r>
              <a:rPr lang="ko-KR" altLang="en-US" sz="800" spc="-3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페이 </a:t>
            </a:r>
            <a:r>
              <a:rPr kumimoji="0" lang="ko-KR" altLang="en-US" sz="800" b="0" i="0" u="none" strike="noStrike" kern="0" cap="none" spc="-3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각 </a:t>
            </a:r>
            <a:r>
              <a:rPr kumimoji="0" lang="en-US" altLang="ko-KR" sz="800" b="0" i="0" u="none" strike="noStrike" kern="0" cap="none" spc="-3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50%)</a:t>
            </a:r>
            <a:endParaRPr kumimoji="0" lang="en-US" altLang="ko-KR" sz="800" b="0" i="0" u="none" strike="noStrike" kern="0" cap="none" spc="-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sym typeface="Apple SD 산돌고딕 Neo 일반체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② 해외명품</a:t>
            </a:r>
            <a:r>
              <a:rPr kumimoji="0" lang="en-US" altLang="ko-KR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1" i="0" u="none" strike="noStrike" kern="0" cap="none" spc="-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골드바</a:t>
            </a:r>
            <a:r>
              <a:rPr kumimoji="0" lang="ko-KR" altLang="en-US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단일 </a:t>
            </a:r>
            <a:r>
              <a:rPr kumimoji="0" lang="en-US" altLang="ko-KR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50~2,000</a:t>
            </a:r>
            <a:r>
              <a:rPr kumimoji="0" lang="ko-KR" altLang="en-US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만 </a:t>
            </a:r>
            <a:r>
              <a:rPr kumimoji="0" lang="en-US" altLang="ko-KR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[2%]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(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월간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, 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수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분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평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원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, 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페이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100% 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분담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), </a:t>
            </a:r>
            <a:r>
              <a:rPr kumimoji="0" lang="ko-KR" altLang="en-US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③ </a:t>
            </a:r>
            <a:r>
              <a:rPr kumimoji="0" lang="ko-KR" altLang="en-US" sz="800" b="1" i="0" u="none" strike="noStrike" kern="0" cap="none" spc="-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무신사</a:t>
            </a:r>
            <a:r>
              <a:rPr kumimoji="0" lang="en-US" altLang="ko-KR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나이키 단일 </a:t>
            </a:r>
            <a:r>
              <a:rPr kumimoji="0" lang="en-US" altLang="ko-KR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25/50</a:t>
            </a:r>
            <a:r>
              <a:rPr kumimoji="0" lang="ko-KR" altLang="en-US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만 </a:t>
            </a:r>
            <a:r>
              <a:rPr kumimoji="0" lang="en-US" altLang="ko-KR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[2%]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(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월간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, 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수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분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평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원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, 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페이 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100% 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분담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B2B048F-5E34-48FB-816D-54CE0B4B0915}"/>
              </a:ext>
            </a:extLst>
          </p:cNvPr>
          <p:cNvSpPr/>
          <p:nvPr/>
        </p:nvSpPr>
        <p:spPr>
          <a:xfrm>
            <a:off x="1471665" y="2641559"/>
            <a:ext cx="10333201" cy="432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E7E6E6">
                <a:lumMod val="90000"/>
              </a:srgbClr>
            </a:solidFill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[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신한 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Plus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정기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]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APP 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쿠폰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전관 단일 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10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만 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[10%] (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월간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,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수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분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평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원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-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점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5 :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카드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5 (1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인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1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회 한정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)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★ 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0.05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억</a:t>
            </a:r>
            <a:endParaRPr kumimoji="0" lang="en-US" altLang="ko-KR" sz="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sym typeface="Apple SD 산돌고딕 Neo 일반체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3A56FFE-A803-49CE-AFA9-CB7A0464B078}"/>
              </a:ext>
            </a:extLst>
          </p:cNvPr>
          <p:cNvSpPr/>
          <p:nvPr/>
        </p:nvSpPr>
        <p:spPr>
          <a:xfrm>
            <a:off x="1176708" y="2645722"/>
            <a:ext cx="288000" cy="432000"/>
          </a:xfrm>
          <a:prstGeom prst="rect">
            <a:avLst/>
          </a:prstGeom>
          <a:solidFill>
            <a:srgbClr val="ED7D31"/>
          </a:solidFill>
          <a:ln w="12700" cap="flat" cmpd="sng" algn="ctr">
            <a:solidFill>
              <a:srgbClr val="E7E6E6">
                <a:lumMod val="90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사은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F78C0E8-45D0-4486-99A5-23350DA265BA}"/>
              </a:ext>
            </a:extLst>
          </p:cNvPr>
          <p:cNvSpPr/>
          <p:nvPr/>
        </p:nvSpPr>
        <p:spPr>
          <a:xfrm>
            <a:off x="1463878" y="1740128"/>
            <a:ext cx="10344266" cy="432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E7E6E6">
                <a:lumMod val="90000"/>
              </a:srgbClr>
            </a:solidFill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[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신한 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Plus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발급 ①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]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전관 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합산 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20/40/60/100/200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만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[15%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상품권 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1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매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]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(</a:t>
            </a:r>
            <a:r>
              <a:rPr kumimoji="0" lang="ko-KR" altLang="en-US" sz="8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월간</a:t>
            </a:r>
            <a:r>
              <a:rPr kumimoji="0" lang="en-US" altLang="ko-KR" sz="8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, </a:t>
            </a:r>
            <a:r>
              <a:rPr kumimoji="0" lang="ko-KR" altLang="en-US" sz="8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수</a:t>
            </a:r>
            <a:r>
              <a:rPr kumimoji="0" lang="en-US" altLang="ko-KR" sz="8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분</a:t>
            </a:r>
            <a:r>
              <a:rPr kumimoji="0" lang="en-US" altLang="ko-KR" sz="8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평</a:t>
            </a:r>
            <a:r>
              <a:rPr kumimoji="0" lang="en-US" altLang="ko-KR" sz="8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1" i="0" u="none" strike="noStrike" kern="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원</a:t>
            </a:r>
            <a:r>
              <a:rPr kumimoji="0" lang="en-US" altLang="ko-KR" sz="800" b="1" i="0" u="none" strike="noStrike" kern="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) </a:t>
            </a:r>
            <a:endParaRPr kumimoji="0" lang="en-US" altLang="ko-KR" sz="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sym typeface="Apple SD 산돌고딕 Neo 일반체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- 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점 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5 : 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카드 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7.5 : </a:t>
            </a:r>
            <a:r>
              <a:rPr kumimoji="0" lang="ko-KR" altLang="en-US" sz="800" b="0" i="0" u="none" strike="noStrike" kern="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본부 </a:t>
            </a:r>
            <a:r>
              <a:rPr kumimoji="0" lang="en-US" altLang="ko-KR" sz="800" b="0" i="0" u="none" strike="noStrike" kern="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2.5 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★</a:t>
            </a:r>
            <a:r>
              <a:rPr kumimoji="0" lang="ko-KR" altLang="en-US" sz="800" b="1" i="0" u="none" strike="noStrike" kern="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CAP 0.15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억</a:t>
            </a:r>
            <a:endParaRPr kumimoji="0" lang="en-US" altLang="ko-KR" sz="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sym typeface="Apple SD 산돌고딕 Neo 일반체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0A0891-ABD2-458E-B901-B47CC820365A}"/>
              </a:ext>
            </a:extLst>
          </p:cNvPr>
          <p:cNvSpPr/>
          <p:nvPr/>
        </p:nvSpPr>
        <p:spPr>
          <a:xfrm>
            <a:off x="1175070" y="1749622"/>
            <a:ext cx="288000" cy="432000"/>
          </a:xfrm>
          <a:prstGeom prst="rect">
            <a:avLst/>
          </a:prstGeom>
          <a:solidFill>
            <a:srgbClr val="ED7D31"/>
          </a:solidFill>
          <a:ln w="12700" cap="flat" cmpd="sng" algn="ctr">
            <a:solidFill>
              <a:srgbClr val="E7E6E6">
                <a:lumMod val="90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사은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671A04D-5D7A-44FB-9474-DF31F050B47F}"/>
              </a:ext>
            </a:extLst>
          </p:cNvPr>
          <p:cNvSpPr/>
          <p:nvPr/>
        </p:nvSpPr>
        <p:spPr>
          <a:xfrm>
            <a:off x="1179913" y="3092987"/>
            <a:ext cx="288000" cy="432000"/>
          </a:xfrm>
          <a:prstGeom prst="rect">
            <a:avLst/>
          </a:prstGeom>
          <a:solidFill>
            <a:srgbClr val="ED7D31"/>
          </a:solidFill>
          <a:ln w="12700" cap="flat" cmpd="sng" algn="ctr">
            <a:solidFill>
              <a:srgbClr val="E7E6E6">
                <a:lumMod val="90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사은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sym typeface="Apple SD 산돌고딕 Neo 일반체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리워드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92E0E35-51A7-449D-A8C0-DF7C8F101221}"/>
              </a:ext>
            </a:extLst>
          </p:cNvPr>
          <p:cNvGrpSpPr/>
          <p:nvPr/>
        </p:nvGrpSpPr>
        <p:grpSpPr>
          <a:xfrm>
            <a:off x="1181069" y="6027417"/>
            <a:ext cx="2178664" cy="396000"/>
            <a:chOff x="1278099" y="3318794"/>
            <a:chExt cx="2047407" cy="612355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348578D-AC63-4582-8D20-EAD7CE475156}"/>
                </a:ext>
              </a:extLst>
            </p:cNvPr>
            <p:cNvSpPr/>
            <p:nvPr/>
          </p:nvSpPr>
          <p:spPr>
            <a:xfrm>
              <a:off x="1538278" y="3318794"/>
              <a:ext cx="1787228" cy="612355"/>
            </a:xfrm>
            <a:prstGeom prst="rect">
              <a:avLst/>
            </a:prstGeom>
            <a:noFill/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[</a:t>
              </a: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신한카드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]</a:t>
              </a: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DAP </a:t>
              </a:r>
              <a:r>
                <a:rPr kumimoji="0" lang="ko-KR" altLang="en-US" sz="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펀딩</a:t>
              </a: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지원 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★ 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0.05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억</a:t>
              </a:r>
              <a:endPara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11</a:t>
              </a:r>
              <a:r>
                <a:rPr kumimoji="0" lang="ko-KR" altLang="en-US" sz="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월 디지털 </a:t>
              </a:r>
              <a:r>
                <a:rPr kumimoji="0" lang="en-US" altLang="ko-KR" sz="8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AK</a:t>
              </a:r>
              <a:r>
                <a:rPr kumimoji="0" lang="ko-KR" altLang="en-US" sz="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플라자 청구할인</a:t>
              </a:r>
              <a:endParaRPr lang="en-US" altLang="ko-KR" sz="8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※ </a:t>
              </a:r>
              <a:r>
                <a:rPr kumimoji="0" lang="ko-KR" altLang="en-US" sz="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네이버페이 즉시할인 협의 중</a:t>
              </a:r>
              <a:endParaRPr kumimoji="0" lang="en-US" altLang="ko-KR" sz="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C906A54-0968-4FDD-BBA7-7A109828F2A9}"/>
                </a:ext>
              </a:extLst>
            </p:cNvPr>
            <p:cNvSpPr/>
            <p:nvPr/>
          </p:nvSpPr>
          <p:spPr>
            <a:xfrm>
              <a:off x="1278099" y="3318794"/>
              <a:ext cx="260179" cy="612355"/>
            </a:xfrm>
            <a:prstGeom prst="rect">
              <a:avLst/>
            </a:prstGeom>
            <a:solidFill>
              <a:srgbClr val="FFC000">
                <a:lumMod val="75000"/>
              </a:srgbClr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DAP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A259C0F1-4166-49A7-917C-F378361D4F92}"/>
              </a:ext>
            </a:extLst>
          </p:cNvPr>
          <p:cNvGrpSpPr/>
          <p:nvPr/>
        </p:nvGrpSpPr>
        <p:grpSpPr>
          <a:xfrm>
            <a:off x="5880178" y="3522631"/>
            <a:ext cx="1058812" cy="792000"/>
            <a:chOff x="1391921" y="2962553"/>
            <a:chExt cx="953439" cy="599150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8655ED9A-162F-4CC5-A491-FA63B450D085}"/>
                </a:ext>
              </a:extLst>
            </p:cNvPr>
            <p:cNvSpPr/>
            <p:nvPr/>
          </p:nvSpPr>
          <p:spPr>
            <a:xfrm>
              <a:off x="1653452" y="2962553"/>
              <a:ext cx="691908" cy="58137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</a:ln>
            <a:effectLst/>
          </p:spPr>
          <p:txBody>
            <a:bodyPr wrap="non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>
                  <a:solidFill>
                    <a:srgbClr val="3B3B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☆ 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srgbClr val="3B3B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A*CLASS </a:t>
              </a:r>
              <a:r>
                <a:rPr lang="ko-KR" altLang="en-US" sz="800" b="1">
                  <a:solidFill>
                    <a:srgbClr val="3B3B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★ 신한 </a:t>
              </a:r>
              <a:r>
                <a:rPr lang="en-US" altLang="ko-KR" sz="800" b="1">
                  <a:solidFill>
                    <a:srgbClr val="3B3B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0.3</a:t>
              </a:r>
              <a:r>
                <a:rPr lang="ko-KR" altLang="en-US" sz="800" b="1">
                  <a:solidFill>
                    <a:srgbClr val="3B3B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억</a:t>
              </a:r>
              <a:endPara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rgbClr val="3B3B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algn="l" defTabSz="914400" rtl="0">
                <a:lnSpc>
                  <a:spcPct val="120000"/>
                </a:lnSpc>
                <a:defRPr/>
              </a:pP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[</a:t>
              </a: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신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한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P</a:t>
              </a: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]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전관 합산 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50/100/200/300/500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만 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[10%]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-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점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5 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: 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카드 </a:t>
              </a:r>
              <a:r>
                <a:rPr lang="en-US" altLang="ko-KR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5</a:t>
              </a:r>
              <a:r>
                <a:rPr kumimoji="0" lang="en-US" altLang="ko-KR" sz="8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(</a:t>
              </a:r>
              <a:r>
                <a:rPr kumimoji="0" lang="en-US" altLang="ko-KR" sz="800" b="1" i="0" u="none" strike="noStrike" kern="0" cap="none" spc="-3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11/12~15</a:t>
              </a:r>
              <a:r>
                <a:rPr kumimoji="0" lang="en-US" altLang="ko-KR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, 4</a:t>
              </a:r>
              <a:r>
                <a:rPr kumimoji="0" lang="ko-KR" altLang="en-US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개점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 ※ 1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인 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회</a:t>
              </a:r>
              <a:endPara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C2AE65FA-F3EF-4C71-9EF4-4543069D3320}"/>
                </a:ext>
              </a:extLst>
            </p:cNvPr>
            <p:cNvSpPr/>
            <p:nvPr/>
          </p:nvSpPr>
          <p:spPr>
            <a:xfrm>
              <a:off x="1391921" y="2962553"/>
              <a:ext cx="258290" cy="599150"/>
            </a:xfrm>
            <a:prstGeom prst="rect">
              <a:avLst/>
            </a:prstGeom>
            <a:solidFill>
              <a:srgbClr val="122A59"/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전관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A*C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BFC759B-E95C-4FA0-9A3D-007CBA405D37}"/>
              </a:ext>
            </a:extLst>
          </p:cNvPr>
          <p:cNvGrpSpPr/>
          <p:nvPr/>
        </p:nvGrpSpPr>
        <p:grpSpPr>
          <a:xfrm>
            <a:off x="10683827" y="3529738"/>
            <a:ext cx="1104976" cy="936000"/>
            <a:chOff x="10981923" y="3225824"/>
            <a:chExt cx="1104976" cy="623051"/>
          </a:xfrm>
        </p:grpSpPr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71C8A00-80A8-41A5-8F27-97F15BA44862}"/>
                </a:ext>
              </a:extLst>
            </p:cNvPr>
            <p:cNvSpPr/>
            <p:nvPr/>
          </p:nvSpPr>
          <p:spPr>
            <a:xfrm>
              <a:off x="11236260" y="3225824"/>
              <a:ext cx="850639" cy="619638"/>
            </a:xfrm>
            <a:prstGeom prst="rect">
              <a:avLst/>
            </a:prstGeom>
            <a:noFill/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algn="l" defTabSz="914400" rtl="0">
                <a:lnSpc>
                  <a:spcPct val="120000"/>
                </a:lnSpc>
                <a:defRPr/>
              </a:pPr>
              <a:r>
                <a:rPr lang="ko-KR" altLang="en-US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☆ 윈터 패션★ </a:t>
              </a:r>
              <a:r>
                <a:rPr lang="en-US" altLang="ko-KR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0.3</a:t>
              </a:r>
              <a:r>
                <a:rPr lang="ko-KR" altLang="en-US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억</a:t>
              </a:r>
              <a:endParaRPr lang="en-US" altLang="ko-KR" sz="800" b="1">
                <a:solidFill>
                  <a:srgbClr val="0000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l" defTabSz="914400" rtl="0">
                <a:lnSpc>
                  <a:spcPct val="120000"/>
                </a:lnSpc>
                <a:defRPr/>
              </a:pP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[</a:t>
              </a:r>
              <a:r>
                <a:rPr lang="ko-KR" altLang="en-US" sz="800" b="1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네이버페이</a:t>
              </a:r>
              <a:r>
                <a:rPr lang="en-US" altLang="ko-KR" sz="800" b="1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/NH] </a:t>
              </a:r>
            </a:p>
            <a:p>
              <a:pPr algn="l" defTabSz="914400" rtl="0">
                <a:lnSpc>
                  <a:spcPct val="120000"/>
                </a:lnSpc>
                <a:defRPr/>
              </a:pP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참여브랜드 단일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</a:t>
              </a:r>
              <a:endPara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10/20/30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만 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[10%]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- </a:t>
              </a:r>
              <a:r>
                <a:rPr kumimoji="0" lang="ko-KR" altLang="en-US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점</a:t>
              </a:r>
              <a:r>
                <a:rPr kumimoji="0" lang="en-US" altLang="ko-KR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5</a:t>
              </a:r>
              <a:r>
                <a:rPr kumimoji="0" lang="en-US" altLang="ko-KR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: </a:t>
              </a:r>
              <a:r>
                <a:rPr kumimoji="0" lang="ko-KR" altLang="en-US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페이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5</a:t>
              </a:r>
              <a:r>
                <a:rPr kumimoji="0" lang="en-US" altLang="ko-KR" sz="80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 (</a:t>
              </a:r>
              <a:r>
                <a:rPr kumimoji="0" lang="en-US" altLang="ko-KR" sz="800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1</a:t>
              </a:r>
              <a:r>
                <a:rPr lang="en-US" altLang="ko-KR" sz="80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1/27</a:t>
              </a:r>
              <a:r>
                <a:rPr kumimoji="0" lang="en-US" altLang="ko-KR" sz="800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~29</a:t>
              </a:r>
              <a:r>
                <a:rPr kumimoji="0" lang="en-US" altLang="ko-KR" sz="80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, 4</a:t>
              </a:r>
              <a:r>
                <a:rPr kumimoji="0" lang="ko-KR" altLang="en-US" sz="80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개점</a:t>
              </a:r>
              <a:r>
                <a:rPr kumimoji="0" lang="en-US" altLang="ko-KR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)</a:t>
              </a:r>
              <a:endPara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endPara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92CF4029-47E7-4AA2-A3BC-8F61EA61447C}"/>
                </a:ext>
              </a:extLst>
            </p:cNvPr>
            <p:cNvSpPr/>
            <p:nvPr/>
          </p:nvSpPr>
          <p:spPr>
            <a:xfrm>
              <a:off x="10981923" y="3229237"/>
              <a:ext cx="288000" cy="619638"/>
            </a:xfrm>
            <a:prstGeom prst="rect">
              <a:avLst/>
            </a:prstGeom>
            <a:solidFill>
              <a:srgbClr val="0C77C0"/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패션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6D16A7E-86F2-45BF-B249-A238086241D8}"/>
              </a:ext>
            </a:extLst>
          </p:cNvPr>
          <p:cNvGrpSpPr/>
          <p:nvPr/>
        </p:nvGrpSpPr>
        <p:grpSpPr>
          <a:xfrm>
            <a:off x="5880177" y="4308999"/>
            <a:ext cx="1058812" cy="792000"/>
            <a:chOff x="10981923" y="3225824"/>
            <a:chExt cx="1058812" cy="623051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8EE17287-52A0-4A69-9016-15107DE31ED3}"/>
                </a:ext>
              </a:extLst>
            </p:cNvPr>
            <p:cNvSpPr/>
            <p:nvPr/>
          </p:nvSpPr>
          <p:spPr>
            <a:xfrm>
              <a:off x="11236260" y="3225824"/>
              <a:ext cx="804475" cy="619638"/>
            </a:xfrm>
            <a:prstGeom prst="rect">
              <a:avLst/>
            </a:prstGeom>
            <a:noFill/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algn="l" defTabSz="914400" rtl="0">
                <a:lnSpc>
                  <a:spcPct val="120000"/>
                </a:lnSpc>
                <a:defRPr/>
              </a:pPr>
              <a:r>
                <a:rPr lang="ko-KR" altLang="en-US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☆ 패션 초대회 </a:t>
              </a:r>
              <a:r>
                <a:rPr lang="en-US" altLang="ko-KR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1.5</a:t>
              </a:r>
              <a:r>
                <a:rPr lang="ko-KR" altLang="en-US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억 ★ 카드사 </a:t>
              </a:r>
              <a:r>
                <a:rPr lang="en-US" altLang="ko-KR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</a:t>
              </a:r>
              <a:r>
                <a:rPr lang="ko-KR" altLang="en-US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억 </a:t>
              </a:r>
              <a:r>
                <a:rPr lang="en-US" altLang="ko-KR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/ </a:t>
              </a:r>
              <a:r>
                <a:rPr lang="ko-KR" altLang="en-US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네이버 </a:t>
              </a:r>
              <a:r>
                <a:rPr lang="en-US" altLang="ko-KR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0.5</a:t>
              </a:r>
              <a:r>
                <a:rPr lang="ko-KR" altLang="en-US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억</a:t>
              </a:r>
              <a:endParaRPr lang="en-US" altLang="ko-KR" sz="800" b="1">
                <a:solidFill>
                  <a:srgbClr val="0000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l" defTabSz="914400" rtl="0">
                <a:lnSpc>
                  <a:spcPct val="120000"/>
                </a:lnSpc>
                <a:defRPr/>
              </a:pP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[</a:t>
              </a: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신한</a:t>
              </a: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P/KB/NH/</a:t>
              </a: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네이버페이</a:t>
              </a: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] </a:t>
              </a:r>
            </a:p>
            <a:p>
              <a:pPr algn="l" defTabSz="914400" rtl="0">
                <a:lnSpc>
                  <a:spcPct val="120000"/>
                </a:lnSpc>
                <a:defRPr/>
              </a:pP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패션 단일 </a:t>
              </a:r>
              <a:r>
                <a:rPr lang="en-US" altLang="ko-KR" sz="800" b="1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30/60/100/200/300/500</a:t>
              </a:r>
              <a:r>
                <a:rPr lang="ko-KR" altLang="en-US" sz="800" b="1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만 </a:t>
              </a:r>
              <a:r>
                <a:rPr lang="en-US" altLang="ko-KR" sz="800" b="1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[10%]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- 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점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5 : 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카드 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5 </a:t>
              </a:r>
              <a:r>
                <a:rPr lang="en-US" altLang="ko-KR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(</a:t>
              </a:r>
              <a:r>
                <a:rPr lang="en-US" altLang="ko-KR" sz="800" b="1" spc="-30">
                  <a:solidFill>
                    <a:srgbClr val="FF0000"/>
                  </a:solidFill>
                  <a:highlight>
                    <a:srgbClr val="FFFF00"/>
                  </a:highlight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11/12~15</a:t>
              </a:r>
              <a:r>
                <a:rPr lang="en-US" altLang="ko-KR" sz="800" spc="-30">
                  <a:solidFill>
                    <a:srgbClr val="000000"/>
                  </a:solidFill>
                  <a:highlight>
                    <a:srgbClr val="FFFF00"/>
                  </a:highlight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4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개점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A0551F57-581B-466F-9F7B-30891490A276}"/>
                </a:ext>
              </a:extLst>
            </p:cNvPr>
            <p:cNvSpPr/>
            <p:nvPr/>
          </p:nvSpPr>
          <p:spPr>
            <a:xfrm>
              <a:off x="10981923" y="3229237"/>
              <a:ext cx="288000" cy="619638"/>
            </a:xfrm>
            <a:prstGeom prst="rect">
              <a:avLst/>
            </a:prstGeom>
            <a:solidFill>
              <a:srgbClr val="0C77C0"/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패션</a:t>
              </a:r>
            </a:p>
          </p:txBody>
        </p: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AD448868-E425-4F75-9219-D9B02E08767C}"/>
              </a:ext>
            </a:extLst>
          </p:cNvPr>
          <p:cNvSpPr/>
          <p:nvPr/>
        </p:nvSpPr>
        <p:spPr>
          <a:xfrm>
            <a:off x="9564775" y="247744"/>
            <a:ext cx="2262249" cy="268650"/>
          </a:xfrm>
          <a:prstGeom prst="roundRect">
            <a:avLst>
              <a:gd name="adj" fmla="val 23104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Overflow="overflow" horzOverflow="overflow" vert="horz" wrap="non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0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NH </a:t>
            </a:r>
            <a:r>
              <a:rPr lang="ko-KR" altLang="en-US" sz="10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펀딩 미정→ 네이버페이 대체 가능</a:t>
            </a:r>
            <a:endParaRPr lang="en-US" altLang="ko-KR" sz="1000" b="1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DDA61D7-4BDB-4B62-1559-43B59DE16075}"/>
              </a:ext>
            </a:extLst>
          </p:cNvPr>
          <p:cNvGrpSpPr/>
          <p:nvPr/>
        </p:nvGrpSpPr>
        <p:grpSpPr>
          <a:xfrm>
            <a:off x="1176828" y="3537923"/>
            <a:ext cx="1104976" cy="936000"/>
            <a:chOff x="10981923" y="3225824"/>
            <a:chExt cx="1104976" cy="623051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48AC11F-45C6-F8B0-876D-461C997CCC1D}"/>
                </a:ext>
              </a:extLst>
            </p:cNvPr>
            <p:cNvSpPr/>
            <p:nvPr/>
          </p:nvSpPr>
          <p:spPr>
            <a:xfrm>
              <a:off x="11236260" y="3225824"/>
              <a:ext cx="850639" cy="619638"/>
            </a:xfrm>
            <a:prstGeom prst="rect">
              <a:avLst/>
            </a:prstGeom>
            <a:noFill/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algn="l" defTabSz="914400" rtl="0">
                <a:lnSpc>
                  <a:spcPct val="120000"/>
                </a:lnSpc>
                <a:defRPr/>
              </a:pPr>
              <a:r>
                <a:rPr lang="ko-KR" altLang="en-US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☆ 그랜드 세일 ★ </a:t>
              </a:r>
              <a:r>
                <a:rPr lang="en-US" altLang="ko-KR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0.3</a:t>
              </a:r>
              <a:r>
                <a:rPr lang="ko-KR" altLang="en-US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억</a:t>
              </a:r>
              <a:endParaRPr lang="en-US" altLang="ko-KR" sz="800" b="1">
                <a:solidFill>
                  <a:srgbClr val="0000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l" defTabSz="914400" rtl="0">
                <a:lnSpc>
                  <a:spcPct val="120000"/>
                </a:lnSpc>
                <a:defRPr/>
              </a:pP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[</a:t>
              </a:r>
              <a:r>
                <a:rPr lang="ko-KR" altLang="en-US" sz="800" b="1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네이버페이</a:t>
              </a:r>
              <a:r>
                <a:rPr lang="en-US" altLang="ko-KR" sz="800" b="1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/NH] 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패션 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합산 </a:t>
              </a:r>
              <a:endPara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30/60/100/200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만 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[7%]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※ </a:t>
              </a:r>
              <a:r>
                <a:rPr lang="ko-KR" altLang="en-US" sz="800" b="1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분당 </a:t>
              </a:r>
              <a:r>
                <a:rPr lang="en-US" altLang="ko-KR" sz="800" b="1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10%</a:t>
              </a:r>
              <a:endParaRPr kumimoji="0" lang="en-US" altLang="ko-KR" sz="800" b="0" i="0" u="none" strike="noStrike" kern="0" cap="none" spc="-3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- </a:t>
              </a:r>
              <a:r>
                <a:rPr kumimoji="0" lang="ko-KR" altLang="en-US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점</a:t>
              </a:r>
              <a:r>
                <a:rPr kumimoji="0" lang="en-US" altLang="ko-KR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3.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5</a:t>
              </a:r>
              <a:r>
                <a:rPr kumimoji="0" lang="en-US" altLang="ko-KR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: 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카드 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3.5</a:t>
              </a:r>
              <a:r>
                <a:rPr kumimoji="0" lang="en-US" altLang="ko-KR" sz="80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 (</a:t>
              </a:r>
              <a:r>
                <a:rPr kumimoji="0" lang="en-US" altLang="ko-KR" sz="800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10/30~11/1</a:t>
              </a:r>
              <a:r>
                <a:rPr kumimoji="0" lang="en-US" altLang="ko-KR" sz="80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, 4</a:t>
              </a:r>
              <a:r>
                <a:rPr kumimoji="0" lang="ko-KR" altLang="en-US" sz="80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개점</a:t>
              </a:r>
              <a:r>
                <a:rPr kumimoji="0" lang="en-US" altLang="ko-KR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)</a:t>
              </a:r>
              <a:endPara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endPara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C1E6C7E-067D-6D1D-1348-A94457674F19}"/>
                </a:ext>
              </a:extLst>
            </p:cNvPr>
            <p:cNvSpPr/>
            <p:nvPr/>
          </p:nvSpPr>
          <p:spPr>
            <a:xfrm>
              <a:off x="10981923" y="3229237"/>
              <a:ext cx="288000" cy="619638"/>
            </a:xfrm>
            <a:prstGeom prst="rect">
              <a:avLst/>
            </a:prstGeom>
            <a:solidFill>
              <a:srgbClr val="0C77C0"/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패션</a:t>
              </a:r>
            </a:p>
          </p:txBody>
        </p:sp>
      </p:grp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3D9E22A-F5D6-A876-622A-3A022E894929}"/>
              </a:ext>
            </a:extLst>
          </p:cNvPr>
          <p:cNvSpPr/>
          <p:nvPr/>
        </p:nvSpPr>
        <p:spPr>
          <a:xfrm>
            <a:off x="1173852" y="4474541"/>
            <a:ext cx="1208606" cy="261155"/>
          </a:xfrm>
          <a:prstGeom prst="roundRect">
            <a:avLst>
              <a:gd name="adj" fmla="val 23104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Overflow="overflow" horzOverflow="overflow" vert="horz" wrap="non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0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10</a:t>
            </a:r>
            <a:r>
              <a:rPr lang="ko-KR" altLang="en-US" sz="10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비용</a:t>
            </a:r>
            <a:endParaRPr lang="en-US" altLang="ko-KR" sz="1000" b="1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9FF5F03A-2191-2123-4EFC-2D03630BD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491355"/>
              </p:ext>
            </p:extLst>
          </p:nvPr>
        </p:nvGraphicFramePr>
        <p:xfrm>
          <a:off x="8474415" y="3582765"/>
          <a:ext cx="1282264" cy="1489143"/>
        </p:xfrm>
        <a:graphic>
          <a:graphicData uri="http://schemas.openxmlformats.org/drawingml/2006/table">
            <a:tbl>
              <a:tblPr/>
              <a:tblGrid>
                <a:gridCol w="562355">
                  <a:extLst>
                    <a:ext uri="{9D8B030D-6E8A-4147-A177-3AD203B41FA5}">
                      <a16:colId xmlns:a16="http://schemas.microsoft.com/office/drawing/2014/main" val="2635502619"/>
                    </a:ext>
                  </a:extLst>
                </a:gridCol>
                <a:gridCol w="719909">
                  <a:extLst>
                    <a:ext uri="{9D8B030D-6E8A-4147-A177-3AD203B41FA5}">
                      <a16:colId xmlns:a16="http://schemas.microsoft.com/office/drawing/2014/main" val="3116381210"/>
                    </a:ext>
                  </a:extLst>
                </a:gridCol>
              </a:tblGrid>
              <a:tr h="30424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패션 초대회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CAP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256820"/>
                  </a:ext>
                </a:extLst>
              </a:tr>
              <a:tr h="23240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신한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195689"/>
                  </a:ext>
                </a:extLst>
              </a:tr>
              <a:tr h="2324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KB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37093"/>
                  </a:ext>
                </a:extLst>
              </a:tr>
              <a:tr h="2324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NH</a:t>
                      </a:r>
                    </a:p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이월불가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333148"/>
                  </a:ext>
                </a:extLst>
              </a:tr>
              <a:tr h="23240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네이버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이월불가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515646"/>
                  </a:ext>
                </a:extLst>
              </a:tr>
              <a:tr h="23240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계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8601742"/>
                  </a:ext>
                </a:extLst>
              </a:tr>
            </a:tbl>
          </a:graphicData>
        </a:graphic>
      </p:graphicFrame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9819243-0F1B-4631-E19A-1D5BDFF010A5}"/>
              </a:ext>
            </a:extLst>
          </p:cNvPr>
          <p:cNvSpPr/>
          <p:nvPr/>
        </p:nvSpPr>
        <p:spPr>
          <a:xfrm>
            <a:off x="10424160" y="3270556"/>
            <a:ext cx="1650639" cy="257274"/>
          </a:xfrm>
          <a:prstGeom prst="roundRect">
            <a:avLst>
              <a:gd name="adj" fmla="val 23104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Overflow="overflow" horzOverflow="overflow" vert="horz" wrap="non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10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공개모집 참여 패션 브랜드 限</a:t>
            </a:r>
            <a:endParaRPr lang="en-US" altLang="ko-KR" sz="1000" b="1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BD987F3-F89D-39A2-88D3-CF0B73E641F1}"/>
              </a:ext>
            </a:extLst>
          </p:cNvPr>
          <p:cNvSpPr/>
          <p:nvPr/>
        </p:nvSpPr>
        <p:spPr>
          <a:xfrm>
            <a:off x="5886738" y="3395089"/>
            <a:ext cx="2549455" cy="242387"/>
          </a:xfrm>
          <a:prstGeom prst="roundRect">
            <a:avLst>
              <a:gd name="adj" fmla="val 23104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Overflow="overflow" horzOverflow="overflow" vert="horz" wrap="non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10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행사 시작 일정 변동 有</a:t>
            </a:r>
            <a:r>
              <a:rPr lang="en-US" altLang="ko-KR" sz="10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11/12 or 11/13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30EDB6C-6DA0-542F-884F-4722E5B7C26C}"/>
              </a:ext>
            </a:extLst>
          </p:cNvPr>
          <p:cNvSpPr/>
          <p:nvPr/>
        </p:nvSpPr>
        <p:spPr>
          <a:xfrm>
            <a:off x="3640993" y="3565347"/>
            <a:ext cx="1819281" cy="439198"/>
          </a:xfrm>
          <a:prstGeom prst="roundRect">
            <a:avLst>
              <a:gd name="adj" fmla="val 23104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Overflow="overflow" horzOverflow="overflow" vert="horz" wrap="non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10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점별 의견 취합 후</a:t>
            </a:r>
            <a:endParaRPr lang="en-US" altLang="ko-KR" sz="1000" b="1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marR="0" indent="0" algn="ctr" defTabSz="8255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10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네이버페이</a:t>
            </a:r>
            <a:r>
              <a:rPr lang="en-US" altLang="ko-KR" sz="10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행사 편성 예정</a:t>
            </a:r>
            <a:endParaRPr lang="en-US" altLang="ko-KR" sz="1000" b="1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8923935"/>
      </p:ext>
    </p:extLst>
  </p:cSld>
  <p:clrMapOvr>
    <a:masterClrMapping/>
  </p:clrMapOvr>
  <p:transition spd="med"/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Apple SD 산돌고딕 Neo 일반체"/>
        <a:ea typeface="Apple SD 산돌고딕 Neo 일반체"/>
        <a:cs typeface="Apple SD 산돌고딕 Neo 일반체"/>
      </a:majorFont>
      <a:minorFont>
        <a:latin typeface="Apple SD 산돌고딕 Neo 일반체"/>
        <a:ea typeface="Apple SD 산돌고딕 Neo 일반체"/>
        <a:cs typeface="Apple SD 산돌고딕 Neo 일반체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CC"/>
        </a:solidFill>
        <a:ln w="12700" cap="flat">
          <a:noFill/>
          <a:miter lim="400000"/>
        </a:ln>
        <a:effectLst/>
      </a:spPr>
      <a:bodyPr rot="0" spcFirstLastPara="1" vertOverflow="overflow" horzOverflow="overflow" vert="horz" wrap="none" lIns="50800" tIns="50800" rIns="50800" bIns="50800" numCol="1" spcCol="38100" rtlCol="0" anchor="ctr">
        <a:noAutofit/>
      </a:bodyPr>
      <a:lstStyle>
        <a:defPPr marL="0" marR="0" indent="0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 smtClean="0">
            <a:ln>
              <a:noFill/>
            </a:ln>
            <a:solidFill>
              <a:schemeClr val="tx1"/>
            </a:solidFill>
            <a:effectLst/>
            <a:uFillTx/>
            <a:latin typeface="나눔스퀘어" panose="020B0600000101010101" pitchFamily="50" charset="-127"/>
            <a:ea typeface="나눔스퀘어" panose="020B0600000101010101" pitchFamily="50" charset="-127"/>
            <a:sym typeface="Apple SD 산돌고딕 Neo 일반체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ple SD 산돌고딕 Neo 일반체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Apple SD 산돌고딕 Neo 일반체"/>
        <a:ea typeface="Apple SD 산돌고딕 Neo 일반체"/>
        <a:cs typeface="Apple SD 산돌고딕 Neo 일반체"/>
      </a:majorFont>
      <a:minorFont>
        <a:latin typeface="Apple SD 산돌고딕 Neo 일반체"/>
        <a:ea typeface="Apple SD 산돌고딕 Neo 일반체"/>
        <a:cs typeface="Apple SD 산돌고딕 Neo 일반체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Apple SD 산돌고딕 Neo 일반체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ple SD 산돌고딕 Neo 일반체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75957</TotalTime>
  <Words>781</Words>
  <Application>Microsoft Office PowerPoint</Application>
  <PresentationFormat>와이드스크린</PresentationFormat>
  <Paragraphs>161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Apple SD 산돌고딕 Neo 일반체</vt:lpstr>
      <vt:lpstr>Helvetica Neue</vt:lpstr>
      <vt:lpstr>나눔스퀘어</vt:lpstr>
      <vt:lpstr>White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이세량</dc:creator>
  <cp:lastModifiedBy>AK</cp:lastModifiedBy>
  <cp:revision>4074</cp:revision>
  <cp:lastPrinted>2026-07-13T05:54:00Z</cp:lastPrinted>
  <dcterms:modified xsi:type="dcterms:W3CDTF">2026-10-14T00:38:23Z</dcterms:modified>
</cp:coreProperties>
</file>