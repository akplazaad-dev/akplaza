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209" r:id="rId2"/>
  </p:sldIdLst>
  <p:sldSz cx="12192000" cy="6858000"/>
  <p:notesSz cx="6797675" cy="9926638"/>
  <p:defaultTextStyle>
    <a:lvl1pPr algn="ctr" defTabSz="412750">
      <a:defRPr sz="2500">
        <a:latin typeface="+mn-lt"/>
        <a:ea typeface="+mn-ea"/>
        <a:cs typeface="+mn-cs"/>
        <a:sym typeface="Apple SD 산돌고딕 Neo 일반체"/>
      </a:defRPr>
    </a:lvl1pPr>
    <a:lvl2pPr indent="114300" algn="ctr" defTabSz="412750">
      <a:defRPr sz="2500">
        <a:latin typeface="+mn-lt"/>
        <a:ea typeface="+mn-ea"/>
        <a:cs typeface="+mn-cs"/>
        <a:sym typeface="Apple SD 산돌고딕 Neo 일반체"/>
      </a:defRPr>
    </a:lvl2pPr>
    <a:lvl3pPr indent="228600" algn="ctr" defTabSz="412750">
      <a:defRPr sz="2500">
        <a:latin typeface="+mn-lt"/>
        <a:ea typeface="+mn-ea"/>
        <a:cs typeface="+mn-cs"/>
        <a:sym typeface="Apple SD 산돌고딕 Neo 일반체"/>
      </a:defRPr>
    </a:lvl3pPr>
    <a:lvl4pPr indent="342900" algn="ctr" defTabSz="412750">
      <a:defRPr sz="2500">
        <a:latin typeface="+mn-lt"/>
        <a:ea typeface="+mn-ea"/>
        <a:cs typeface="+mn-cs"/>
        <a:sym typeface="Apple SD 산돌고딕 Neo 일반체"/>
      </a:defRPr>
    </a:lvl4pPr>
    <a:lvl5pPr indent="457200" algn="ctr" defTabSz="412750">
      <a:defRPr sz="2500">
        <a:latin typeface="+mn-lt"/>
        <a:ea typeface="+mn-ea"/>
        <a:cs typeface="+mn-cs"/>
        <a:sym typeface="Apple SD 산돌고딕 Neo 일반체"/>
      </a:defRPr>
    </a:lvl5pPr>
    <a:lvl6pPr indent="571500" algn="ctr" defTabSz="412750">
      <a:defRPr sz="2500">
        <a:latin typeface="+mn-lt"/>
        <a:ea typeface="+mn-ea"/>
        <a:cs typeface="+mn-cs"/>
        <a:sym typeface="Apple SD 산돌고딕 Neo 일반체"/>
      </a:defRPr>
    </a:lvl6pPr>
    <a:lvl7pPr indent="685800" algn="ctr" defTabSz="412750">
      <a:defRPr sz="2500">
        <a:latin typeface="+mn-lt"/>
        <a:ea typeface="+mn-ea"/>
        <a:cs typeface="+mn-cs"/>
        <a:sym typeface="Apple SD 산돌고딕 Neo 일반체"/>
      </a:defRPr>
    </a:lvl7pPr>
    <a:lvl8pPr indent="800100" algn="ctr" defTabSz="412750">
      <a:defRPr sz="2500">
        <a:latin typeface="+mn-lt"/>
        <a:ea typeface="+mn-ea"/>
        <a:cs typeface="+mn-cs"/>
        <a:sym typeface="Apple SD 산돌고딕 Neo 일반체"/>
      </a:defRPr>
    </a:lvl8pPr>
    <a:lvl9pPr indent="914400" algn="ctr" defTabSz="412750">
      <a:defRPr sz="2500">
        <a:latin typeface="+mn-lt"/>
        <a:ea typeface="+mn-ea"/>
        <a:cs typeface="+mn-cs"/>
        <a:sym typeface="Apple SD 산돌고딕 Neo 일반체"/>
      </a:defRPr>
    </a:lvl9pPr>
  </p:defaultTextStyle>
  <p:extLst>
    <p:ext uri="{521415D9-36F7-43E2-AB2F-B90AF26B5E84}">
      <p14:sectionLst xmlns:p14="http://schemas.microsoft.com/office/powerpoint/2010/main">
        <p14:section name="10월" id="{67327B0B-8D08-425B-A981-1EABF706AEED}">
          <p14:sldIdLst>
            <p14:sldId id="28209"/>
          </p14:sldIdLst>
        </p14:section>
      </p14:sectionLst>
    </p:ext>
    <p:ext uri="{EFAFB233-063F-42B5-8137-9DF3F51BA10A}">
      <p15:sldGuideLst xmlns:p15="http://schemas.microsoft.com/office/powerpoint/2012/main">
        <p15:guide id="2" pos="551" userDrawn="1">
          <p15:clr>
            <a:srgbClr val="A4A3A4"/>
          </p15:clr>
        </p15:guide>
        <p15:guide id="3" orient="horz" pos="414" userDrawn="1">
          <p15:clr>
            <a:srgbClr val="A4A3A4"/>
          </p15:clr>
        </p15:guide>
        <p15:guide id="4" orient="horz" pos="4178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8" orient="horz" pos="368" userDrawn="1">
          <p15:clr>
            <a:srgbClr val="A4A3A4"/>
          </p15:clr>
        </p15:guide>
        <p15:guide id="12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  <a:srgbClr val="122A59"/>
    <a:srgbClr val="000000"/>
    <a:srgbClr val="2D90CD"/>
    <a:srgbClr val="3333CC"/>
    <a:srgbClr val="DC0E6B"/>
    <a:srgbClr val="C82171"/>
    <a:srgbClr val="B4E2C0"/>
    <a:srgbClr val="8ED2A0"/>
    <a:srgbClr val="38C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pple SD 산돌고딕 Neo 볼드체"/>
          <a:ea typeface="Apple SD 산돌고딕 Neo 볼드체"/>
          <a:cs typeface="Apple SD 산돌고딕 Neo 볼드체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6242" autoAdjust="0"/>
  </p:normalViewPr>
  <p:slideViewPr>
    <p:cSldViewPr snapToGrid="0">
      <p:cViewPr varScale="1">
        <p:scale>
          <a:sx n="113" d="100"/>
          <a:sy n="113" d="100"/>
        </p:scale>
        <p:origin x="462" y="108"/>
      </p:cViewPr>
      <p:guideLst>
        <p:guide pos="551"/>
        <p:guide orient="horz" pos="414"/>
        <p:guide orient="horz" pos="4178"/>
        <p:guide pos="7469"/>
        <p:guide orient="horz" pos="368"/>
        <p:guide pos="2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70389613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sz="1000" baseline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8956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작성용 (본 양식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694160" y="6492875"/>
            <a:ext cx="497840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38D95E47-3538-4239-BB49-9B61ADA5A1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5104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476250"/>
            <a:ext cx="105029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5600"/>
              <a:t>제목 텍스트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619250"/>
            <a:ext cx="10502900" cy="460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pPr lvl="0">
              <a:defRPr sz="1800"/>
            </a:pPr>
            <a:r>
              <a:rPr sz="2600"/>
              <a:t>본문 첫 번째 줄</a:t>
            </a:r>
          </a:p>
          <a:p>
            <a:pPr lvl="1">
              <a:defRPr sz="1800"/>
            </a:pPr>
            <a:r>
              <a:rPr sz="2600"/>
              <a:t>본문 두 번째 줄</a:t>
            </a:r>
          </a:p>
          <a:p>
            <a:pPr lvl="2">
              <a:defRPr sz="1800"/>
            </a:pPr>
            <a:r>
              <a:rPr sz="2600"/>
              <a:t>본문 세 번째 줄</a:t>
            </a:r>
          </a:p>
          <a:p>
            <a:pPr lvl="3">
              <a:defRPr sz="1800"/>
            </a:pPr>
            <a:r>
              <a:rPr sz="2600"/>
              <a:t>본문 네 번째 줄</a:t>
            </a:r>
          </a:p>
          <a:p>
            <a:pPr lvl="4">
              <a:defRPr sz="1800"/>
            </a:pPr>
            <a:r>
              <a:rPr sz="2600"/>
              <a:t>본문 다섯 번째 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B01CD8D-A813-470A-A094-CDF788587319}"/>
              </a:ext>
            </a:extLst>
          </p:cNvPr>
          <p:cNvCxnSpPr>
            <a:cxnSpLocks/>
          </p:cNvCxnSpPr>
          <p:nvPr/>
        </p:nvCxnSpPr>
        <p:spPr>
          <a:xfrm flipV="1">
            <a:off x="336794" y="574361"/>
            <a:ext cx="11520244" cy="18000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hf hdr="0" ftr="0" dt="0"/>
  <p:txStyles>
    <p:titleStyle>
      <a:lvl1pPr algn="ctr" defTabSz="412750">
        <a:defRPr sz="5600">
          <a:latin typeface="+mn-lt"/>
          <a:ea typeface="+mn-ea"/>
          <a:cs typeface="+mn-cs"/>
          <a:sym typeface="Apple SD 산돌고딕 Neo 일반체"/>
        </a:defRPr>
      </a:lvl1pPr>
      <a:lvl2pPr indent="114300" algn="ctr" defTabSz="412750">
        <a:defRPr sz="5600">
          <a:latin typeface="+mn-lt"/>
          <a:ea typeface="+mn-ea"/>
          <a:cs typeface="+mn-cs"/>
          <a:sym typeface="Apple SD 산돌고딕 Neo 일반체"/>
        </a:defRPr>
      </a:lvl2pPr>
      <a:lvl3pPr indent="228600" algn="ctr" defTabSz="412750">
        <a:defRPr sz="5600">
          <a:latin typeface="+mn-lt"/>
          <a:ea typeface="+mn-ea"/>
          <a:cs typeface="+mn-cs"/>
          <a:sym typeface="Apple SD 산돌고딕 Neo 일반체"/>
        </a:defRPr>
      </a:lvl3pPr>
      <a:lvl4pPr indent="342900" algn="ctr" defTabSz="412750">
        <a:defRPr sz="5600">
          <a:latin typeface="+mn-lt"/>
          <a:ea typeface="+mn-ea"/>
          <a:cs typeface="+mn-cs"/>
          <a:sym typeface="Apple SD 산돌고딕 Neo 일반체"/>
        </a:defRPr>
      </a:lvl4pPr>
      <a:lvl5pPr indent="457200" algn="ctr" defTabSz="412750">
        <a:defRPr sz="5600">
          <a:latin typeface="+mn-lt"/>
          <a:ea typeface="+mn-ea"/>
          <a:cs typeface="+mn-cs"/>
          <a:sym typeface="Apple SD 산돌고딕 Neo 일반체"/>
        </a:defRPr>
      </a:lvl5pPr>
      <a:lvl6pPr indent="571500" algn="ctr" defTabSz="412750">
        <a:defRPr sz="5600">
          <a:latin typeface="+mn-lt"/>
          <a:ea typeface="+mn-ea"/>
          <a:cs typeface="+mn-cs"/>
          <a:sym typeface="Apple SD 산돌고딕 Neo 일반체"/>
        </a:defRPr>
      </a:lvl6pPr>
      <a:lvl7pPr indent="685800" algn="ctr" defTabSz="412750">
        <a:defRPr sz="5600">
          <a:latin typeface="+mn-lt"/>
          <a:ea typeface="+mn-ea"/>
          <a:cs typeface="+mn-cs"/>
          <a:sym typeface="Apple SD 산돌고딕 Neo 일반체"/>
        </a:defRPr>
      </a:lvl7pPr>
      <a:lvl8pPr indent="800100" algn="ctr" defTabSz="412750">
        <a:defRPr sz="5600">
          <a:latin typeface="+mn-lt"/>
          <a:ea typeface="+mn-ea"/>
          <a:cs typeface="+mn-cs"/>
          <a:sym typeface="Apple SD 산돌고딕 Neo 일반체"/>
        </a:defRPr>
      </a:lvl8pPr>
      <a:lvl9pPr indent="914400" algn="ctr" defTabSz="412750">
        <a:defRPr sz="5600">
          <a:latin typeface="+mn-lt"/>
          <a:ea typeface="+mn-ea"/>
          <a:cs typeface="+mn-cs"/>
          <a:sym typeface="Apple SD 산돌고딕 Neo 일반체"/>
        </a:defRPr>
      </a:lvl9pPr>
    </p:titleStyle>
    <p:bodyStyle>
      <a:lvl1pPr marL="31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1pPr>
      <a:lvl2pPr marL="635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2pPr>
      <a:lvl3pPr marL="952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3pPr>
      <a:lvl4pPr marL="1270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4pPr>
      <a:lvl5pPr marL="158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5pPr>
      <a:lvl6pPr marL="1905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6pPr>
      <a:lvl7pPr marL="2222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7pPr>
      <a:lvl8pPr marL="25400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8pPr>
      <a:lvl9pPr marL="2857500" indent="-317500" defTabSz="412750">
        <a:spcBef>
          <a:spcPts val="2950"/>
        </a:spcBef>
        <a:buSzPct val="75000"/>
        <a:buChar char="•"/>
        <a:defRPr sz="2600">
          <a:latin typeface="+mn-lt"/>
          <a:ea typeface="+mn-ea"/>
          <a:cs typeface="+mn-cs"/>
          <a:sym typeface="Apple SD 산돌고딕 Neo 일반체"/>
        </a:defRPr>
      </a:lvl9pPr>
    </p:bodyStyle>
    <p:otherStyle>
      <a:lvl1pPr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1pPr>
      <a:lvl2pPr indent="1143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2pPr>
      <a:lvl3pPr indent="2286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3pPr>
      <a:lvl4pPr indent="3429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4pPr>
      <a:lvl5pPr indent="4572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5pPr>
      <a:lvl6pPr indent="5715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6pPr>
      <a:lvl7pPr indent="6858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7pPr>
      <a:lvl8pPr indent="8001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8pPr>
      <a:lvl9pPr indent="914400" algn="ctr" defTabSz="412750">
        <a:defRPr sz="1200">
          <a:solidFill>
            <a:schemeClr val="tx1"/>
          </a:solidFill>
          <a:latin typeface="+mn-lt"/>
          <a:ea typeface="+mn-ea"/>
          <a:cs typeface="+mn-cs"/>
          <a:sym typeface="Apple SD 산돌고딕 Neo 일반체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46">
            <a:extLst>
              <a:ext uri="{FF2B5EF4-FFF2-40B4-BE49-F238E27FC236}">
                <a16:creationId xmlns:a16="http://schemas.microsoft.com/office/drawing/2014/main" id="{CBD02128-CEB8-4823-845B-2495B137684C}"/>
              </a:ext>
            </a:extLst>
          </p:cNvPr>
          <p:cNvSpPr/>
          <p:nvPr/>
        </p:nvSpPr>
        <p:spPr>
          <a:xfrm>
            <a:off x="239712" y="95765"/>
            <a:ext cx="8942041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l">
              <a:defRPr sz="6200">
                <a:latin typeface="나눔스퀘어OTF_ac Bold"/>
                <a:ea typeface="나눔스퀘어OTF_ac Bold"/>
                <a:cs typeface="나눔스퀘어OTF_ac Bold"/>
                <a:sym typeface="나눔스퀘어OTF_ac Bold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26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년 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월 제휴 판촉 캘린더 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초안</a:t>
            </a:r>
            <a:r>
              <a:rPr lang="en-US" altLang="ko-KR" sz="2400" b="1" kern="12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나눔스퀘어OTF_ac Bold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7BDE311-F336-4B51-96A3-C8509751F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55676"/>
              </p:ext>
            </p:extLst>
          </p:nvPr>
        </p:nvGraphicFramePr>
        <p:xfrm>
          <a:off x="366439" y="712107"/>
          <a:ext cx="11460585" cy="5863500"/>
        </p:xfrm>
        <a:graphic>
          <a:graphicData uri="http://schemas.openxmlformats.org/drawingml/2006/table">
            <a:tbl>
              <a:tblPr firstRow="1" bandRow="1"/>
              <a:tblGrid>
                <a:gridCol w="33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869">
                  <a:extLst>
                    <a:ext uri="{9D8B030D-6E8A-4147-A177-3AD203B41FA5}">
                      <a16:colId xmlns:a16="http://schemas.microsoft.com/office/drawing/2014/main" val="770167306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76289496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88500901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18377367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89017733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177146433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60614023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7473930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50230789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42173508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66103325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5144083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248730434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44585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135364444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80392629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81764981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71934259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20941635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228735762"/>
                    </a:ext>
                  </a:extLst>
                </a:gridCol>
                <a:gridCol w="332884">
                  <a:extLst>
                    <a:ext uri="{9D8B030D-6E8A-4147-A177-3AD203B41FA5}">
                      <a16:colId xmlns:a16="http://schemas.microsoft.com/office/drawing/2014/main" val="3321425309"/>
                    </a:ext>
                  </a:extLst>
                </a:gridCol>
              </a:tblGrid>
              <a:tr h="216000">
                <a:tc rowSpan="2" gridSpan="2"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구분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4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5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9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15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17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18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24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25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b="1" kern="1200">
                          <a:solidFill>
                            <a:schemeClr val="lt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27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29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30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31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11/1</a:t>
                      </a:r>
                      <a:endParaRPr lang="ko-KR" altLang="en-US" sz="90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gridSpan="2" v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화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목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토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r>
                        <a:rPr lang="ko-KR" altLang="en-US" sz="1050" b="1">
                          <a:solidFill>
                            <a:srgbClr val="FF0000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일</a:t>
                      </a:r>
                      <a:endParaRPr lang="ko-KR" altLang="en-US" sz="1050" b="1" dirty="0">
                        <a:solidFill>
                          <a:srgbClr val="FF0000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92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테마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15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AK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멤버스 페스티벌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(sub.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가을세일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신한카드 플러스 페스타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F/W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패션 브랜드 인비테이션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indent="1143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indent="2286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indent="3429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indent="4572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indent="5715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indent="6858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indent="8001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indent="914400" algn="ctr" defTabSz="412750">
                        <a:defRPr sz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코리아 그랜드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페스티벌</a:t>
                      </a: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 gridSpan="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주요 방향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전관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MASS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공략 </a:t>
                      </a:r>
                      <a:r>
                        <a:rPr kumimoji="0" lang="en-US" altLang="ko-KR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우수고객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공판 기간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신한카드 단독전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공판 기간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733838"/>
                  </a:ext>
                </a:extLst>
              </a:tr>
              <a:tr h="720000">
                <a:tc rowSpan="5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dk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0" indent="1143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00" indent="2286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00" indent="3429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00" indent="4572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00" indent="5715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00" indent="6858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00" indent="8001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00" indent="914400" algn="ctr" defTabSz="412750" rtl="0" eaLnBrk="1" latinLnBrk="1" hangingPunct="1">
                        <a:defRPr sz="1200" kern="1200">
                          <a:solidFill>
                            <a:schemeClr val="tx1"/>
                          </a:solidFill>
                          <a:latin typeface="맑은 고딕" panose="020F0502020204030204"/>
                          <a:ea typeface="Apple SD 산돌고딕 Neo 일반체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신한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Plus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발급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en-US" altLang="ko-KR" sz="105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4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월간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0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251721"/>
                  </a:ext>
                </a:extLst>
              </a:tr>
              <a:tr h="194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전관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패션</a:t>
                      </a:r>
                      <a:endParaRPr lang="en-US" altLang="ko-KR" sz="900" b="1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ko-KR" altLang="en-US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562368"/>
                  </a:ext>
                </a:extLst>
              </a:tr>
              <a:tr h="93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가전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 latinLnBrk="1">
                        <a:defRPr lang="ko-KR" altLang="en-US"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</a:p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가구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7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5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1785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기타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2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1pPr>
                      <a:lvl2pPr marL="457206" indent="1143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2pPr>
                      <a:lvl3pPr marL="914411" indent="2286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3pPr>
                      <a:lvl4pPr marL="1371617" indent="3429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4pPr>
                      <a:lvl5pPr marL="1828823" indent="4572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5pPr>
                      <a:lvl6pPr marL="2286029" indent="5715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6pPr>
                      <a:lvl7pPr marL="2743234" indent="6858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7pPr>
                      <a:lvl8pPr marL="3200440" indent="8001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8pPr>
                      <a:lvl9pPr marL="3657646" indent="91440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나눔스퀘어_ac"/>
                          <a:ea typeface="나눔스퀘어_ac"/>
                          <a:cs typeface="Apple SD 산돌고딕 Neo 일반체"/>
                          <a:sym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1pPr>
                      <a:lvl2pPr marL="45720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2pPr>
                      <a:lvl3pPr marL="914411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3pPr>
                      <a:lvl4pPr marL="1371617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4pPr>
                      <a:lvl5pPr marL="1828823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5pPr>
                      <a:lvl6pPr marL="2286029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6pPr>
                      <a:lvl7pPr marL="2743234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7pPr>
                      <a:lvl8pPr marL="3200440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8pPr>
                      <a:lvl9pPr marL="3657646" algn="l" defTabSz="914411" rtl="0" eaLnBrk="1" latinLnBrk="1" hangingPunct="1">
                        <a:defRPr sz="1801" kern="1200">
                          <a:solidFill>
                            <a:schemeClr val="tx1"/>
                          </a:solidFill>
                          <a:latin typeface="Apple SD 산돌고딕 Neo 일반체"/>
                          <a:ea typeface="Apple SD 산돌고딕 Neo 일반체"/>
                          <a:cs typeface="Apple SD 산돌고딕 Neo 일반체"/>
                        </a:defRPr>
                      </a:lvl9pPr>
                    </a:lstStyle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 lang="ko-KR" altLang="en-US"/>
                      </a:pPr>
                      <a:endParaRPr lang="en-US" altLang="ko-KR" sz="1050" b="1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DEE0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6E6">
                          <a:lumMod val="9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528298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3AE7F754-C514-4D01-BE87-1F0194F08A85}"/>
              </a:ext>
            </a:extLst>
          </p:cNvPr>
          <p:cNvSpPr/>
          <p:nvPr/>
        </p:nvSpPr>
        <p:spPr>
          <a:xfrm>
            <a:off x="1478017" y="2118147"/>
            <a:ext cx="10344267" cy="36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발급 ②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전관 합산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첫결제 조건 충족 시 모바일 상품권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(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신규 발급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모바일 상품권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4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재발급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모바일 상품권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3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 </a:t>
            </a:r>
            <a:r>
              <a:rPr kumimoji="0" lang="ko-KR" altLang="en-US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캐시백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lang="ko-KR" altLang="en-US" sz="8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익</a:t>
            </a:r>
            <a:r>
              <a: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말 혜택 증정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0.2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A62886-47CA-4F58-8878-8551887D01B2}"/>
              </a:ext>
            </a:extLst>
          </p:cNvPr>
          <p:cNvSpPr/>
          <p:nvPr/>
        </p:nvSpPr>
        <p:spPr>
          <a:xfrm>
            <a:off x="1191270" y="2114833"/>
            <a:ext cx="288000" cy="360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리워드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CC7C9B0-E55C-4059-8753-D4ADFF23AA7A}"/>
              </a:ext>
            </a:extLst>
          </p:cNvPr>
          <p:cNvGrpSpPr/>
          <p:nvPr/>
        </p:nvGrpSpPr>
        <p:grpSpPr>
          <a:xfrm>
            <a:off x="1203594" y="5226221"/>
            <a:ext cx="10621968" cy="432000"/>
            <a:chOff x="1261165" y="3330794"/>
            <a:chExt cx="10939052" cy="68238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32F2A90-FF0E-4B13-BE14-F87B8D27EA10}"/>
                </a:ext>
              </a:extLst>
            </p:cNvPr>
            <p:cNvSpPr/>
            <p:nvPr/>
          </p:nvSpPr>
          <p:spPr>
            <a:xfrm>
              <a:off x="1559855" y="3330797"/>
              <a:ext cx="10640362" cy="68237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/NH] 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가전 단일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200/300/500/700/1,000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[9~10%] * NP+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증정률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+1%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0.5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(10/1~31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수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평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원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광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① 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기본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9% 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2.5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② 네이버페이 등록 신한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10%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=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3.25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3.25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광명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10% = AK 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3.5,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등록 신한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11% = AK 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3.5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1)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1341FC-0AC2-44FB-B73A-809C03021FE5}"/>
                </a:ext>
              </a:extLst>
            </p:cNvPr>
            <p:cNvSpPr/>
            <p:nvPr/>
          </p:nvSpPr>
          <p:spPr>
            <a:xfrm>
              <a:off x="1261165" y="3330794"/>
              <a:ext cx="288000" cy="682382"/>
            </a:xfrm>
            <a:prstGeom prst="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가전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01579B7-19CF-423F-8AE7-726811346B12}"/>
              </a:ext>
            </a:extLst>
          </p:cNvPr>
          <p:cNvGrpSpPr/>
          <p:nvPr/>
        </p:nvGrpSpPr>
        <p:grpSpPr>
          <a:xfrm>
            <a:off x="1207540" y="5692576"/>
            <a:ext cx="10618021" cy="432000"/>
            <a:chOff x="1261165" y="3330794"/>
            <a:chExt cx="11175710" cy="68238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2C1F20D-5A01-4D6B-9D4B-E8E5224F4D79}"/>
                </a:ext>
              </a:extLst>
            </p:cNvPr>
            <p:cNvSpPr/>
            <p:nvPr/>
          </p:nvSpPr>
          <p:spPr>
            <a:xfrm>
              <a:off x="1552052" y="3330796"/>
              <a:ext cx="10884823" cy="68238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/NH] 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가구 단일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200/300/500/700/1,000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[12~13%] * NP+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</a:t>
              </a:r>
              <a:r>
                <a:rPr kumimoji="0" lang="ko-KR" altLang="en-US" sz="800" b="1" i="0" u="none" strike="noStrike" kern="0" cap="none" spc="-3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증정률</a:t>
              </a:r>
              <a:r>
                <a:rPr kumimoji="0" lang="ko-KR" altLang="en-US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+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1%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0.15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  <a:r>
                <a:rPr lang="en-US" altLang="ko-KR" sz="800" b="1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(10/1~31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수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평</a:t>
              </a:r>
              <a:r>
                <a:rPr kumimoji="0" lang="en-US" altLang="ko-KR" sz="800" b="0" i="0" u="none" strike="noStrike" kern="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/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원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-3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① 기본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12%=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(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일부 참여 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9%)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② 네이버페이 등록 신한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 13% =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페이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브랜드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: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97FBC1F-61E8-4488-8D58-B3309F7174E2}"/>
                </a:ext>
              </a:extLst>
            </p:cNvPr>
            <p:cNvSpPr/>
            <p:nvPr/>
          </p:nvSpPr>
          <p:spPr>
            <a:xfrm>
              <a:off x="1261165" y="3330794"/>
              <a:ext cx="288000" cy="682382"/>
            </a:xfrm>
            <a:prstGeom prst="rect">
              <a:avLst/>
            </a:prstGeom>
            <a:solidFill>
              <a:srgbClr val="70AD47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가구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C4DEB8-1234-41D2-93D6-8C379D151E26}"/>
              </a:ext>
            </a:extLst>
          </p:cNvPr>
          <p:cNvSpPr/>
          <p:nvPr/>
        </p:nvSpPr>
        <p:spPr>
          <a:xfrm>
            <a:off x="1491939" y="2844800"/>
            <a:ext cx="10330346" cy="396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[PAYCO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포인트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및 특정 장르 사은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행사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7~10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%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사은 ★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CAP 0.1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APP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쿠폰 채널 포함 운영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① 전관 합산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15/30/60/100/200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평일 </a:t>
            </a:r>
            <a:r>
              <a:rPr lang="en-US" altLang="ko-KR" sz="8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7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%,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주말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10%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상향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(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</a:t>
            </a:r>
            <a:r>
              <a:rPr lang="en-US" altLang="ko-KR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페이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각 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50%)</a:t>
            </a:r>
            <a:endParaRPr kumimoji="0" lang="en-US" altLang="ko-KR" sz="800" b="0" i="0" u="none" strike="noStrike" kern="0" cap="none" spc="-3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② 해외명품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골드바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단일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50~2,000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[2%]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페이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100%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), 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③ </a:t>
            </a:r>
            <a:r>
              <a:rPr kumimoji="0" lang="ko-KR" altLang="en-US" sz="800" b="1" i="0" u="none" strike="noStrike" kern="0" cap="none" spc="-3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무신사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나이키 단일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25/50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[2%]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페이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100%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분담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2B048F-5E34-48FB-816D-54CE0B4B0915}"/>
              </a:ext>
            </a:extLst>
          </p:cNvPr>
          <p:cNvSpPr/>
          <p:nvPr/>
        </p:nvSpPr>
        <p:spPr>
          <a:xfrm>
            <a:off x="1489083" y="2484800"/>
            <a:ext cx="10333201" cy="36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정기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APP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쿠폰 전관 단일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10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[10%] (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 :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카드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5 (1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인 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회 한정</a:t>
            </a: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0.05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A56FFE-A803-49CE-AFA9-CB7A0464B078}"/>
              </a:ext>
            </a:extLst>
          </p:cNvPr>
          <p:cNvSpPr/>
          <p:nvPr/>
        </p:nvSpPr>
        <p:spPr>
          <a:xfrm>
            <a:off x="1194126" y="2488963"/>
            <a:ext cx="288000" cy="360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78C0E8-45D0-4486-99A5-23350DA265BA}"/>
              </a:ext>
            </a:extLst>
          </p:cNvPr>
          <p:cNvSpPr/>
          <p:nvPr/>
        </p:nvSpPr>
        <p:spPr>
          <a:xfrm>
            <a:off x="1481296" y="1748836"/>
            <a:ext cx="10344266" cy="3600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신한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Plus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발급 ①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전관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합산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20/40/60/100/200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만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[15% 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상품권 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1</a:t>
            </a: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매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]</a:t>
            </a: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(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월간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, 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수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분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평</a:t>
            </a:r>
            <a:r>
              <a:rPr kumimoji="0" lang="en-US" altLang="ko-KR" sz="800" b="1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/</a:t>
            </a:r>
            <a:r>
              <a:rPr kumimoji="0" lang="ko-KR" altLang="en-US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원</a:t>
            </a:r>
            <a:r>
              <a:rPr kumimoji="0" lang="en-US" altLang="ko-KR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) 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-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점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5 : 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카드 </a:t>
            </a:r>
            <a:r>
              <a: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7.5 : </a:t>
            </a:r>
            <a:r>
              <a:rPr kumimoji="0" lang="ko-KR" altLang="en-US" sz="800" b="0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본부 </a:t>
            </a:r>
            <a:r>
              <a:rPr kumimoji="0" lang="en-US" altLang="ko-KR" sz="800" b="0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2.5 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★</a:t>
            </a:r>
            <a:r>
              <a:rPr kumimoji="0" lang="ko-KR" altLang="en-US" sz="800" b="1" i="0" u="none" strike="noStrike" kern="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 </a:t>
            </a: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CAP 0.15</a:t>
            </a:r>
            <a:r>
              <a:rPr kumimoji="0" lang="ko-KR" altLang="en-U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억</a:t>
            </a:r>
            <a:endParaRPr kumimoji="0" lang="en-US" altLang="ko-KR" sz="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0A0891-ABD2-458E-B901-B47CC820365A}"/>
              </a:ext>
            </a:extLst>
          </p:cNvPr>
          <p:cNvSpPr/>
          <p:nvPr/>
        </p:nvSpPr>
        <p:spPr>
          <a:xfrm>
            <a:off x="1192488" y="1758330"/>
            <a:ext cx="288000" cy="360000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671A04D-5D7A-44FB-9474-DF31F050B47F}"/>
              </a:ext>
            </a:extLst>
          </p:cNvPr>
          <p:cNvSpPr/>
          <p:nvPr/>
        </p:nvSpPr>
        <p:spPr>
          <a:xfrm>
            <a:off x="1197331" y="2857849"/>
            <a:ext cx="288000" cy="399368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E7E6E6">
                <a:lumMod val="90000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사은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sym typeface="Apple SD 산돌고딕 Neo 일반체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리워드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92E0E35-51A7-449D-A8C0-DF7C8F101221}"/>
              </a:ext>
            </a:extLst>
          </p:cNvPr>
          <p:cNvGrpSpPr/>
          <p:nvPr/>
        </p:nvGrpSpPr>
        <p:grpSpPr>
          <a:xfrm>
            <a:off x="1207196" y="6154898"/>
            <a:ext cx="2178664" cy="396000"/>
            <a:chOff x="1278099" y="3318794"/>
            <a:chExt cx="2047407" cy="612355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48578D-AC63-4582-8D20-EAD7CE475156}"/>
                </a:ext>
              </a:extLst>
            </p:cNvPr>
            <p:cNvSpPr/>
            <p:nvPr/>
          </p:nvSpPr>
          <p:spPr>
            <a:xfrm>
              <a:off x="1538278" y="3318794"/>
              <a:ext cx="1787228" cy="612355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신한카드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]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DAP </a:t>
              </a:r>
              <a:r>
                <a:rPr kumimoji="0" lang="ko-KR" altLang="en-US" sz="8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펀딩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지원 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0.05</a:t>
              </a:r>
              <a:r>
                <a:rPr kumimoji="0" lang="ko-KR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9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월 디지털 </a:t>
              </a:r>
              <a:r>
                <a:rPr kumimoji="0" lang="en-US" altLang="ko-KR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AK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플라자 청구할인</a:t>
              </a: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9C906A54-0968-4FDD-BBA7-7A109828F2A9}"/>
                </a:ext>
              </a:extLst>
            </p:cNvPr>
            <p:cNvSpPr/>
            <p:nvPr/>
          </p:nvSpPr>
          <p:spPr>
            <a:xfrm>
              <a:off x="1278099" y="3318794"/>
              <a:ext cx="260179" cy="612355"/>
            </a:xfrm>
            <a:prstGeom prst="rect">
              <a:avLst/>
            </a:prstGeom>
            <a:solidFill>
              <a:srgbClr val="FFC000">
                <a:lumMod val="75000"/>
              </a:srgbClr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DAP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64F49FB-DBFD-4DA8-8F99-64A1488EFCC2}"/>
              </a:ext>
            </a:extLst>
          </p:cNvPr>
          <p:cNvGrpSpPr/>
          <p:nvPr/>
        </p:nvGrpSpPr>
        <p:grpSpPr>
          <a:xfrm>
            <a:off x="1197749" y="3846636"/>
            <a:ext cx="1349502" cy="1080000"/>
            <a:chOff x="1278099" y="3318795"/>
            <a:chExt cx="1349502" cy="63219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6E4D23D-FBE6-427A-B53E-021BFF2E3585}"/>
                </a:ext>
              </a:extLst>
            </p:cNvPr>
            <p:cNvSpPr/>
            <p:nvPr/>
          </p:nvSpPr>
          <p:spPr>
            <a:xfrm>
              <a:off x="1566099" y="3318795"/>
              <a:ext cx="1061502" cy="63219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멤버스 페스티벌 ★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0.9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3B3B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①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P/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]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★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0.6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3B3B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 전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관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합산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30/60/100/200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[10~7%]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 10%,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7%</a:t>
              </a:r>
              <a:endParaRPr kumimoji="0" lang="en-US" altLang="ko-KR" sz="8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10/2~5, 4</a:t>
              </a:r>
              <a:r>
                <a:rPr lang="ko-KR" altLang="en-US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AA92D34E-2764-4B5B-B84A-DA1FBC70F891}"/>
                </a:ext>
              </a:extLst>
            </p:cNvPr>
            <p:cNvSpPr/>
            <p:nvPr/>
          </p:nvSpPr>
          <p:spPr>
            <a:xfrm>
              <a:off x="1278099" y="3318795"/>
              <a:ext cx="288000" cy="632199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endPara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멤페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259C0F1-4166-49A7-917C-F378361D4F92}"/>
              </a:ext>
            </a:extLst>
          </p:cNvPr>
          <p:cNvGrpSpPr/>
          <p:nvPr/>
        </p:nvGrpSpPr>
        <p:grpSpPr>
          <a:xfrm>
            <a:off x="1192434" y="3271194"/>
            <a:ext cx="1305752" cy="576000"/>
            <a:chOff x="1391921" y="2962553"/>
            <a:chExt cx="1175804" cy="599150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8655ED9A-162F-4CC5-A491-FA63B450D085}"/>
                </a:ext>
              </a:extLst>
            </p:cNvPr>
            <p:cNvSpPr/>
            <p:nvPr/>
          </p:nvSpPr>
          <p:spPr>
            <a:xfrm>
              <a:off x="1653452" y="2962553"/>
              <a:ext cx="914273" cy="58137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A*CLASS 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★ 신한 </a:t>
              </a:r>
              <a:r>
                <a:rPr lang="en-US" altLang="ko-KR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0.1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 </a:t>
              </a:r>
              <a:r>
                <a:rPr lang="en-US" altLang="ko-KR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 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 </a:t>
              </a:r>
              <a:r>
                <a:rPr lang="en-US" altLang="ko-KR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0.2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3B3B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네이버페이 등록 신한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P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전관 합산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100/200/300/500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[12%]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 </a:t>
              </a: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: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페이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5 : </a:t>
              </a: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카드 </a:t>
              </a:r>
              <a:r>
                <a:rPr kumimoji="0" lang="en-US" altLang="ko-KR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 (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10/1~5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4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C2AE65FA-F3EF-4C71-9EF4-4543069D3320}"/>
                </a:ext>
              </a:extLst>
            </p:cNvPr>
            <p:cNvSpPr/>
            <p:nvPr/>
          </p:nvSpPr>
          <p:spPr>
            <a:xfrm>
              <a:off x="1391921" y="2962553"/>
              <a:ext cx="258290" cy="599150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전관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A*C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58748BA6-FF3F-4410-9E04-69166749BB63}"/>
              </a:ext>
            </a:extLst>
          </p:cNvPr>
          <p:cNvGrpSpPr/>
          <p:nvPr/>
        </p:nvGrpSpPr>
        <p:grpSpPr>
          <a:xfrm>
            <a:off x="6177280" y="3318725"/>
            <a:ext cx="2444025" cy="1872000"/>
            <a:chOff x="1278099" y="3318795"/>
            <a:chExt cx="2444025" cy="612355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9A89788-3707-485D-BE6A-2FBD6784EDBA}"/>
                </a:ext>
              </a:extLst>
            </p:cNvPr>
            <p:cNvSpPr/>
            <p:nvPr/>
          </p:nvSpPr>
          <p:spPr>
            <a:xfrm>
              <a:off x="1566098" y="3318796"/>
              <a:ext cx="2156026" cy="612354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신한카드</a:t>
              </a:r>
              <a:r>
                <a:rPr lang="en-US" altLang="ko-KR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ko-KR" altLang="en-US" sz="800" b="1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플러스 페스타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★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1.0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rgbClr val="3B3BFF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억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rgbClr val="3B3B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①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P] 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 단일 </a:t>
              </a:r>
              <a:endParaRPr lang="en-US" altLang="ko-KR" sz="800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  30/60/100/200/300/500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[10%]</a:t>
              </a: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-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: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(10/16~22, 4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en-US" altLang="ko-KR" sz="800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②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일반신한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 합산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30/60/100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en-US" altLang="ko-KR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7%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-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3.5 :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3.5 (10/16~18, 4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en-US" altLang="ko-KR" sz="800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③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등록 일반신한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 합산</a:t>
              </a:r>
              <a:endParaRPr lang="en-US" altLang="ko-KR" sz="800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   30/60/100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[10%]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 -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: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페이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 : 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 (10/16~18, 4</a:t>
              </a:r>
              <a:r>
                <a:rPr lang="ko-KR" altLang="en-US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④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APP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이벤트</a:t>
              </a:r>
              <a:endParaRPr kumimoji="0" lang="en-US" altLang="ko-KR" sz="800" b="1" i="0" u="none" strike="noStrike" kern="0" cap="none" spc="-3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신한카드 결제 고객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F&amp;B 1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만원 이상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천원 금할</a:t>
              </a:r>
              <a:endParaRPr lang="en-US" altLang="ko-KR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⑤  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DB </a:t>
              </a: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마케팅</a:t>
              </a:r>
              <a:endParaRPr lang="en-US" altLang="ko-KR" sz="800" b="1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 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주요 상권 공략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신한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P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미발급 대상 카카오 메시지 발송 </a:t>
              </a:r>
              <a:endParaRPr lang="en-US" altLang="ko-KR" sz="800" spc="-3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23A2420-4EBF-44F3-BCE4-206C71CC7ED5}"/>
                </a:ext>
              </a:extLst>
            </p:cNvPr>
            <p:cNvSpPr/>
            <p:nvPr/>
          </p:nvSpPr>
          <p:spPr>
            <a:xfrm>
              <a:off x="1278099" y="3318795"/>
              <a:ext cx="288000" cy="612355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endPara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신한</a:t>
              </a:r>
              <a:endPara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67339FD-2E8B-4633-BF2A-237FA690D972}"/>
              </a:ext>
            </a:extLst>
          </p:cNvPr>
          <p:cNvGrpSpPr/>
          <p:nvPr/>
        </p:nvGrpSpPr>
        <p:grpSpPr>
          <a:xfrm>
            <a:off x="8624691" y="4075010"/>
            <a:ext cx="1364244" cy="792000"/>
            <a:chOff x="8640875" y="3861976"/>
            <a:chExt cx="1364244" cy="636659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81A3EDC-01E6-4D65-AD3B-D1AAAF5845A1}"/>
                </a:ext>
              </a:extLst>
            </p:cNvPr>
            <p:cNvSpPr/>
            <p:nvPr/>
          </p:nvSpPr>
          <p:spPr>
            <a:xfrm>
              <a:off x="8927016" y="3867633"/>
              <a:ext cx="1078103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분당 개점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29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주년 ★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0.2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합산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30/60/100/200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[1</a:t>
              </a:r>
              <a:r>
                <a:rPr lang="en-US" altLang="ko-KR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페이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(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10/23~25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53179AFB-B08C-4982-98CF-47B08DE92BE1}"/>
                </a:ext>
              </a:extLst>
            </p:cNvPr>
            <p:cNvSpPr/>
            <p:nvPr/>
          </p:nvSpPr>
          <p:spPr>
            <a:xfrm>
              <a:off x="8640875" y="3861976"/>
              <a:ext cx="288000" cy="636659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endPara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분당</a:t>
              </a:r>
              <a:endParaRPr kumimoji="0" lang="en-US" altLang="ko-KR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endParaRPr kumimoji="0" lang="ko-KR" altLang="en-US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BFC759B-E95C-4FA0-9A3D-007CBA405D37}"/>
              </a:ext>
            </a:extLst>
          </p:cNvPr>
          <p:cNvGrpSpPr/>
          <p:nvPr/>
        </p:nvGrpSpPr>
        <p:grpSpPr>
          <a:xfrm>
            <a:off x="10709712" y="3259770"/>
            <a:ext cx="1104976" cy="936000"/>
            <a:chOff x="10981923" y="3225824"/>
            <a:chExt cx="1104976" cy="623051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71C8A00-80A8-41A5-8F27-97F15BA44862}"/>
                </a:ext>
              </a:extLst>
            </p:cNvPr>
            <p:cNvSpPr/>
            <p:nvPr/>
          </p:nvSpPr>
          <p:spPr>
            <a:xfrm>
              <a:off x="11236260" y="3225824"/>
              <a:ext cx="850639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그랜드 세일 ★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[KB/NH/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 합산 </a:t>
              </a:r>
              <a:endPara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30/60/100/200</a:t>
              </a:r>
              <a:r>
                <a:rPr kumimoji="0" lang="ko-KR" altLang="en-US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만 </a:t>
              </a:r>
              <a:r>
                <a:rPr kumimoji="0" lang="en-US" altLang="ko-KR" sz="8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[7%]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- </a:t>
              </a:r>
              <a:r>
                <a:rPr kumimoji="0" lang="ko-KR" altLang="en-US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(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10/30~11/1</a:t>
              </a:r>
              <a:r>
                <a:rPr kumimoji="0" lang="en-US" altLang="ko-KR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, 4</a:t>
              </a:r>
              <a:r>
                <a:rPr kumimoji="0" lang="ko-KR" altLang="en-US" sz="80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개점</a:t>
              </a:r>
              <a:r>
                <a:rPr kumimoji="0" lang="en-US" altLang="ko-KR" sz="800" b="0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)</a:t>
              </a: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altLang="ko-KR" sz="800" b="0" i="0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92CF4029-47E7-4AA2-A3BC-8F61EA61447C}"/>
                </a:ext>
              </a:extLst>
            </p:cNvPr>
            <p:cNvSpPr/>
            <p:nvPr/>
          </p:nvSpPr>
          <p:spPr>
            <a:xfrm>
              <a:off x="10981923" y="3229237"/>
              <a:ext cx="288000" cy="619638"/>
            </a:xfrm>
            <a:prstGeom prst="rect">
              <a:avLst/>
            </a:prstGeom>
            <a:solidFill>
              <a:srgbClr val="0C77C0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6D16A7E-86F2-45BF-B249-A238086241D8}"/>
              </a:ext>
            </a:extLst>
          </p:cNvPr>
          <p:cNvGrpSpPr/>
          <p:nvPr/>
        </p:nvGrpSpPr>
        <p:grpSpPr>
          <a:xfrm>
            <a:off x="8624691" y="3273364"/>
            <a:ext cx="1332440" cy="792000"/>
            <a:chOff x="10981923" y="3225824"/>
            <a:chExt cx="1332440" cy="62305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EE17287-52A0-4A69-9016-15107DE31ED3}"/>
                </a:ext>
              </a:extLst>
            </p:cNvPr>
            <p:cNvSpPr/>
            <p:nvPr/>
          </p:nvSpPr>
          <p:spPr>
            <a:xfrm>
              <a:off x="11236260" y="3225824"/>
              <a:ext cx="1078103" cy="619638"/>
            </a:xfrm>
            <a:prstGeom prst="rect">
              <a:avLst/>
            </a:prstGeom>
            <a:noFill/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l" defTabSz="914400" rtl="0">
                <a:lnSpc>
                  <a:spcPct val="120000"/>
                </a:lnSpc>
                <a:defRPr/>
              </a:pP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☆ 공판 지원 ★ </a:t>
              </a:r>
              <a:r>
                <a:rPr lang="en-US" altLang="ko-KR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>
                  <a:solidFill>
                    <a:srgbClr val="0000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>
                <a:solidFill>
                  <a:srgbClr val="0000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 등록 결제 시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12%]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공판 참여 브랜드 단일 </a:t>
              </a:r>
              <a:r>
                <a:rPr lang="en-US" altLang="ko-KR" sz="800" b="1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30/60/100/200</a:t>
              </a:r>
              <a:r>
                <a:rPr lang="ko-KR" altLang="en-US" sz="800" b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</a:t>
              </a:r>
              <a:endParaRPr lang="en-US" altLang="ko-KR" sz="8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브랜드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페이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2  </a:t>
              </a:r>
              <a:r>
                <a:rPr lang="en-US" altLang="ko-KR" sz="80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en-US" altLang="ko-KR" sz="800" spc="-3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10/23~25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4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0551F57-581B-466F-9F7B-30891490A276}"/>
                </a:ext>
              </a:extLst>
            </p:cNvPr>
            <p:cNvSpPr/>
            <p:nvPr/>
          </p:nvSpPr>
          <p:spPr>
            <a:xfrm>
              <a:off x="10981923" y="3229237"/>
              <a:ext cx="288000" cy="619638"/>
            </a:xfrm>
            <a:prstGeom prst="rect">
              <a:avLst/>
            </a:prstGeom>
            <a:solidFill>
              <a:srgbClr val="0C77C0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패션</a:t>
              </a: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D83E709-D46A-4C6C-BB86-A486E70A2064}"/>
              </a:ext>
            </a:extLst>
          </p:cNvPr>
          <p:cNvSpPr/>
          <p:nvPr/>
        </p:nvSpPr>
        <p:spPr>
          <a:xfrm>
            <a:off x="6164482" y="3123995"/>
            <a:ext cx="2455470" cy="185084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9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패션 그룹 </a:t>
            </a:r>
            <a:r>
              <a:rPr kumimoji="0" lang="en-US" altLang="ko-KR" sz="900" b="1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rPr>
              <a:t>&amp; KEY MD </a:t>
            </a:r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에누리 초대회</a:t>
            </a:r>
            <a:endParaRPr lang="en-US" altLang="ko-KR" sz="9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6F89A73-20CF-47D3-850F-A6766C5260F2}"/>
              </a:ext>
            </a:extLst>
          </p:cNvPr>
          <p:cNvSpPr/>
          <p:nvPr/>
        </p:nvSpPr>
        <p:spPr>
          <a:xfrm>
            <a:off x="3401762" y="541256"/>
            <a:ext cx="533483" cy="170848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1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선전개</a:t>
            </a:r>
            <a:endParaRPr lang="en-US" altLang="ko-KR" sz="11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6BC9063-14F1-4300-80D9-4F4CF6648B77}"/>
              </a:ext>
            </a:extLst>
          </p:cNvPr>
          <p:cNvGrpSpPr/>
          <p:nvPr/>
        </p:nvGrpSpPr>
        <p:grpSpPr>
          <a:xfrm>
            <a:off x="3109072" y="4540656"/>
            <a:ext cx="998632" cy="648000"/>
            <a:chOff x="1278099" y="3318795"/>
            <a:chExt cx="998632" cy="612355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5CAC8D0-CF67-4F47-B1DB-CAF5853A16D2}"/>
                </a:ext>
              </a:extLst>
            </p:cNvPr>
            <p:cNvSpPr/>
            <p:nvPr/>
          </p:nvSpPr>
          <p:spPr>
            <a:xfrm>
              <a:off x="1566099" y="3318796"/>
              <a:ext cx="710632" cy="6123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②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[</a:t>
              </a: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네이버페이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/PAYCO</a:t>
              </a: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포인트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] </a:t>
              </a:r>
              <a:r>
                <a:rPr lang="ko-KR" altLang="en-US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★ </a:t>
              </a:r>
              <a:r>
                <a:rPr lang="en-US" altLang="ko-KR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0.2</a:t>
              </a:r>
              <a:r>
                <a:rPr lang="ko-KR" altLang="en-US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 spc="-30">
                <a:solidFill>
                  <a:srgbClr val="3B3B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 </a:t>
              </a: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 합산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10%]</a:t>
              </a:r>
            </a:p>
            <a:p>
              <a:pPr algn="l" defTabSz="914400" rtl="0">
                <a:lnSpc>
                  <a:spcPct val="120000"/>
                </a:lnSpc>
                <a:defRPr/>
              </a:pP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(10/6~7, 4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CC4B239-B6C1-48B0-9E34-1464973AC032}"/>
                </a:ext>
              </a:extLst>
            </p:cNvPr>
            <p:cNvSpPr/>
            <p:nvPr/>
          </p:nvSpPr>
          <p:spPr>
            <a:xfrm>
              <a:off x="1278099" y="3318795"/>
              <a:ext cx="288000" cy="612355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endPara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멤페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D720F97-4F57-4CBF-9933-5A836594733D}"/>
              </a:ext>
            </a:extLst>
          </p:cNvPr>
          <p:cNvGrpSpPr/>
          <p:nvPr/>
        </p:nvGrpSpPr>
        <p:grpSpPr>
          <a:xfrm>
            <a:off x="3553922" y="3848489"/>
            <a:ext cx="1716970" cy="684000"/>
            <a:chOff x="1278099" y="3318795"/>
            <a:chExt cx="1716970" cy="612355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9E920FC-D105-4699-910E-AC80708A1D13}"/>
                </a:ext>
              </a:extLst>
            </p:cNvPr>
            <p:cNvSpPr/>
            <p:nvPr/>
          </p:nvSpPr>
          <p:spPr>
            <a:xfrm>
              <a:off x="1566099" y="3318796"/>
              <a:ext cx="1428970" cy="612354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③ 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[KB/NH] </a:t>
              </a:r>
              <a:r>
                <a:rPr lang="ko-KR" altLang="en-US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★ </a:t>
              </a:r>
              <a:r>
                <a:rPr lang="en-US" altLang="ko-KR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0.3</a:t>
              </a:r>
              <a:r>
                <a:rPr lang="ko-KR" altLang="en-US" sz="800" b="1" spc="-30">
                  <a:solidFill>
                    <a:srgbClr val="3B3B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억</a:t>
              </a:r>
              <a:endParaRPr lang="en-US" altLang="ko-KR" sz="800" b="1" spc="-30">
                <a:solidFill>
                  <a:srgbClr val="3B3B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  </a:t>
              </a:r>
              <a:r>
                <a:rPr kumimoji="0" lang="ko-KR" altLang="en-US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전관 합산 </a:t>
              </a:r>
              <a:r>
                <a:rPr kumimoji="0" lang="en-US" altLang="ko-KR" sz="800" b="1" i="0" u="none" strike="noStrike" kern="0" cap="none" spc="-3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20</a:t>
              </a:r>
              <a:r>
                <a:rPr lang="ko-KR" altLang="en-US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 </a:t>
              </a:r>
              <a:r>
                <a:rPr lang="en-US" altLang="ko-KR" sz="800" b="1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[10%]</a:t>
              </a: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-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점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: 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카드 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5 (10/8~11, 4</a:t>
              </a:r>
              <a:r>
                <a:rPr lang="ko-KR" altLang="en-US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개점</a:t>
              </a:r>
              <a:r>
                <a:rPr lang="en-US" altLang="ko-KR" sz="800" spc="-30">
                  <a:solidFill>
                    <a:srgbClr val="0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2575101-1EE5-4959-8388-3780BFBB30E3}"/>
                </a:ext>
              </a:extLst>
            </p:cNvPr>
            <p:cNvSpPr/>
            <p:nvPr/>
          </p:nvSpPr>
          <p:spPr>
            <a:xfrm>
              <a:off x="1278099" y="3318795"/>
              <a:ext cx="288000" cy="612355"/>
            </a:xfrm>
            <a:prstGeom prst="rect">
              <a:avLst/>
            </a:prstGeom>
            <a:solidFill>
              <a:srgbClr val="122A59"/>
            </a:solidFill>
            <a:ln w="12700" cap="flat" cmpd="sng" algn="ctr">
              <a:solidFill>
                <a:srgbClr val="E7E6E6">
                  <a:lumMod val="90000"/>
                </a:srgbClr>
              </a:solidFill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>
                  <a:solidFill>
                    <a:prstClr val="whit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전관</a:t>
              </a:r>
              <a:endParaRPr lang="en-US" altLang="ko-KR" sz="90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sym typeface="Apple SD 산돌고딕 Neo 일반체"/>
                </a:rPr>
                <a:t>멤페</a:t>
              </a:r>
              <a:endPara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sym typeface="Apple SD 산돌고딕 Neo 일반체"/>
              </a:endParaRPr>
            </a:p>
          </p:txBody>
        </p:sp>
      </p:grp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0DF3921-600C-4279-9B0A-C33F8B40AB87}"/>
              </a:ext>
            </a:extLst>
          </p:cNvPr>
          <p:cNvSpPr/>
          <p:nvPr/>
        </p:nvSpPr>
        <p:spPr>
          <a:xfrm>
            <a:off x="1442150" y="548000"/>
            <a:ext cx="533483" cy="170848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1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선전개</a:t>
            </a:r>
            <a:endParaRPr lang="en-US" altLang="ko-KR" sz="11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6F1A291-34BD-4B0F-B844-6739B4DCA0A3}"/>
              </a:ext>
            </a:extLst>
          </p:cNvPr>
          <p:cNvSpPr/>
          <p:nvPr/>
        </p:nvSpPr>
        <p:spPr>
          <a:xfrm>
            <a:off x="3401762" y="6163287"/>
            <a:ext cx="2169305" cy="379144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defTabSz="825500" rtl="0" latinLnBrk="1" hangingPunct="0"/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아이폰 폴더 런칭</a:t>
            </a:r>
            <a:r>
              <a:rPr lang="en-US" altLang="ko-KR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프로모션</a:t>
            </a:r>
            <a:endParaRPr lang="en-US" altLang="ko-KR" sz="9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825500" rtl="0" latinLnBrk="1" hangingPunct="0"/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사전 예약 </a:t>
            </a:r>
            <a:r>
              <a:rPr lang="en-US" altLang="ko-KR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 10/16(</a:t>
            </a:r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금</a:t>
            </a:r>
            <a:r>
              <a:rPr lang="en-US" altLang="ko-KR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~ 10/22(</a:t>
            </a:r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목</a:t>
            </a:r>
            <a:r>
              <a:rPr lang="en-US" altLang="ko-KR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5651FDD-DD90-4447-A003-430DF9A33297}"/>
              </a:ext>
            </a:extLst>
          </p:cNvPr>
          <p:cNvSpPr/>
          <p:nvPr/>
        </p:nvSpPr>
        <p:spPr>
          <a:xfrm>
            <a:off x="10457054" y="320596"/>
            <a:ext cx="1365230" cy="204836"/>
          </a:xfrm>
          <a:prstGeom prst="roundRect">
            <a:avLst>
              <a:gd name="adj" fmla="val 23104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1" vertOverflow="overflow" horzOverflow="overflow" vert="horz" wrap="none" lIns="50800" tIns="50800" rIns="50800" bIns="50800" numCol="1" spcCol="38100" rtlCol="0" anchor="ctr">
            <a:no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NH</a:t>
            </a:r>
            <a:r>
              <a:rPr lang="ko-KR" altLang="en-US" sz="900" b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펀딩 미확정</a:t>
            </a:r>
            <a:endParaRPr lang="en-US" altLang="ko-KR" sz="900" b="1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9278794"/>
      </p:ext>
    </p:extLst>
  </p:cSld>
  <p:clrMapOvr>
    <a:masterClrMapping/>
  </p:clrMapOvr>
  <p:transition spd="med"/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일반체"/>
        <a:ea typeface="Apple SD 산돌고딕 Neo 일반체"/>
        <a:cs typeface="Apple SD 산돌고딕 Neo 일반체"/>
      </a:majorFont>
      <a:minorFont>
        <a:latin typeface="Apple SD 산돌고딕 Neo 일반체"/>
        <a:ea typeface="Apple SD 산돌고딕 Neo 일반체"/>
        <a:cs typeface="Apple SD 산돌고딕 Neo 일반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none" lIns="50800" tIns="50800" rIns="50800" bIns="50800" numCol="1" spcCol="38100" rtlCol="0" anchor="ctr">
        <a:noAutofit/>
      </a:bodyPr>
      <a:lstStyle>
        <a:defPPr marL="0" marR="0" indent="0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 smtClean="0">
            <a:ln>
              <a:noFill/>
            </a:ln>
            <a:solidFill>
              <a:schemeClr val="tx1"/>
            </a:solidFill>
            <a:effectLst/>
            <a:uFillTx/>
            <a:latin typeface="나눔스퀘어" panose="020B0600000101010101" pitchFamily="50" charset="-127"/>
            <a:ea typeface="나눔스퀘어" panose="020B0600000101010101" pitchFamily="50" charset="-127"/>
            <a:sym typeface="Apple SD 산돌고딕 Neo 일반체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Apple SD 산돌고딕 Neo 일반체"/>
        <a:ea typeface="Apple SD 산돌고딕 Neo 일반체"/>
        <a:cs typeface="Apple SD 산돌고딕 Neo 일반체"/>
      </a:majorFont>
      <a:minorFont>
        <a:latin typeface="Apple SD 산돌고딕 Neo 일반체"/>
        <a:ea typeface="Apple SD 산돌고딕 Neo 일반체"/>
        <a:cs typeface="Apple SD 산돌고딕 Neo 일반체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ple SD 산돌고딕 Neo 일반체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73196</TotalTime>
  <Words>983</Words>
  <Application>Microsoft Office PowerPoint</Application>
  <PresentationFormat>와이드스크린</PresentationFormat>
  <Paragraphs>178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Apple SD 산돌고딕 Neo 일반체</vt:lpstr>
      <vt:lpstr>Helvetica Neue</vt:lpstr>
      <vt:lpstr>나눔스퀘어</vt:lpstr>
      <vt:lpstr>나눔스퀘어OTF_ac Bold</vt:lpstr>
      <vt:lpstr>White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이세량</dc:creator>
  <cp:lastModifiedBy>AK</cp:lastModifiedBy>
  <cp:revision>3976</cp:revision>
  <cp:lastPrinted>2026-07-13T05:54:00Z</cp:lastPrinted>
  <dcterms:modified xsi:type="dcterms:W3CDTF">2026-09-11T06:19:25Z</dcterms:modified>
</cp:coreProperties>
</file>